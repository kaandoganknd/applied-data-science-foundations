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7" r:id="rId4"/>
    <p:sldId id="289" r:id="rId5"/>
    <p:sldId id="319" r:id="rId6"/>
    <p:sldId id="290" r:id="rId7"/>
    <p:sldId id="328" r:id="rId8"/>
    <p:sldId id="317" r:id="rId9"/>
    <p:sldId id="325" r:id="rId10"/>
    <p:sldId id="329" r:id="rId11"/>
    <p:sldId id="333" r:id="rId12"/>
    <p:sldId id="334" r:id="rId13"/>
    <p:sldId id="320" r:id="rId14"/>
    <p:sldId id="307" r:id="rId15"/>
    <p:sldId id="316" r:id="rId16"/>
    <p:sldId id="326" r:id="rId17"/>
    <p:sldId id="327" r:id="rId18"/>
    <p:sldId id="330" r:id="rId19"/>
    <p:sldId id="331" r:id="rId20"/>
    <p:sldId id="332" r:id="rId21"/>
    <p:sldId id="335" r:id="rId22"/>
    <p:sldId id="323" r:id="rId23"/>
    <p:sldId id="32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17T12:30:17.3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6T11:50:52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10:07:56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24575,'49'0'0,"19"0"0,-16 0 0,37 0 0,-29 0 0,-4 0 0,3 0 0,34 0 0,-32 0 0,0 0 0,-9 0 0,-2 0 0,24 0 0,-10 0 0,-12 0 0,-14 0 0,-9 0 0,-11 0 0,-4 0 0,1-4 0,-6 3 0,-5-3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6T11:57:00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24575,'20'0'0,"20"0"0,-3 0 0,7 0 0,-7 0 0,-16 0 0,10 0 0,-4 0 0,-1 0 0,5 0 0,-4 0 0,5 0 0,0 0 0,1 0 0,-7 0 0,5 0 0,-10 0 0,19 0 0,-17 0 0,11 0 0,-14 0 0,-1 0 0,7 0 0,0 0 0,7 0 0,-1 0 0,7 0 0,-5 0 0,4 0 0,-5 0 0,8 0 0,-17 0 0,8 0 0,-21 0 0,2 0 0,-4 0 0,0 0 0,0 0 0,0 0 0,-1 0 0,1 0 0,5 0 0,1 0 0,0 0 0,-2 0 0,1 0 0,-4 0 0,4 0 0,-6 4 0,-3 1 0,-1 4 0,1 5 0,-4-8 0,3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6T11:58:24.6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C0F99-F021-4FC8-8E22-00D9E47F3B1D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2EAC4-A76E-4A7F-9BEA-66C780C7DD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54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USE DATABASENAME;  can be used in MYSQL Workbench BUT not on phpMyAdmin.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521BB-0001-A748-9026-6772216204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3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363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C4043"/>
                </a:solidFill>
              </a:rPr>
              <a:t>ALTER TABLE </a:t>
            </a:r>
            <a:r>
              <a:rPr lang="en-GB" dirty="0" err="1">
                <a:solidFill>
                  <a:srgbClr val="3C4043"/>
                </a:solidFill>
              </a:rPr>
              <a:t>works_on</a:t>
            </a:r>
            <a:endParaRPr lang="en-GB" dirty="0">
              <a:solidFill>
                <a:srgbClr val="3C4043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C4043"/>
                </a:solidFill>
              </a:rPr>
              <a:t>MODIFY COLUMN </a:t>
            </a:r>
            <a:r>
              <a:rPr lang="en-GB" dirty="0">
                <a:solidFill>
                  <a:srgbClr val="0070C0"/>
                </a:solidFill>
              </a:rPr>
              <a:t>role char(15) </a:t>
            </a:r>
            <a:r>
              <a:rPr lang="en-GB" b="0" dirty="0">
                <a:solidFill>
                  <a:srgbClr val="C00000"/>
                </a:solidFill>
              </a:rPr>
              <a:t>DEFAULT</a:t>
            </a:r>
            <a:r>
              <a:rPr lang="en-GB" dirty="0">
                <a:solidFill>
                  <a:srgbClr val="0070C0"/>
                </a:solidFill>
              </a:rPr>
              <a:t> ‘To be set’;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rgbClr val="0070C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C4043"/>
                </a:solidFill>
              </a:rPr>
              <a:t>ALTER TABLE project</a:t>
            </a:r>
            <a:endParaRPr lang="en-GB" dirty="0">
              <a:solidFill>
                <a:srgbClr val="0070C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ADD CONSTRAINT UNIQUE </a:t>
            </a:r>
            <a:r>
              <a:rPr lang="en-GB" dirty="0" err="1"/>
              <a:t>project_uni_leader</a:t>
            </a:r>
            <a:r>
              <a:rPr lang="en-GB" dirty="0"/>
              <a:t> (leader);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C4043"/>
                </a:solidFill>
              </a:rPr>
              <a:t>ALTER TABLE project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MODIFY COLUMN leader char(15) UNIQUE;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rgbClr val="0070C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3C4043"/>
                </a:solidFill>
              </a:rPr>
              <a:t>ALTER TABLE employee</a:t>
            </a:r>
            <a:endParaRPr lang="en-GB" dirty="0">
              <a:solidFill>
                <a:srgbClr val="0070C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ADD CONSTRAINT </a:t>
            </a:r>
            <a:r>
              <a:rPr lang="en-GB" dirty="0" err="1"/>
              <a:t>employee_che_floor</a:t>
            </a:r>
            <a:r>
              <a:rPr lang="en-GB" dirty="0"/>
              <a:t>  CHECK (floor &lt;= 7);</a:t>
            </a:r>
            <a:endParaRPr lang="en-GB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111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7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81D495-4261-AD4B-BCD6-C5164B9507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01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004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81D495-4261-AD4B-BCD6-C5164B9507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88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125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JOIN, CROSS JOIN and INNER JOIN are functionally equivalent, returning the cartesian product</a:t>
            </a:r>
          </a:p>
          <a:p>
            <a:endParaRPr lang="en-GB" dirty="0"/>
          </a:p>
          <a:p>
            <a:r>
              <a:rPr lang="en-GB" dirty="0"/>
              <a:t>Main difference is that INNER JOIN requires a condition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81D495-4261-AD4B-BCD6-C5164B9507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22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5A73-BC4C-4626-B260-C21A67A6B4B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428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A76A5-B593-E6B9-8F60-BB79693E4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8F98F-6FC5-A93A-59C1-F59B74B9B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42C69-9859-00ED-ACAB-EB14988B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3CB22-3D72-E0CE-3960-1C003BC7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2FE0-9271-4F74-F295-FB97424F4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86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DE44-0F09-7538-CAED-5A36E767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AF54B-B4EB-3E87-9F49-03D1E59F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2A89-6332-A313-A902-B3C86858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7AEC-6C1C-D9E6-5EDB-69262FEF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BAA55-29A2-BE11-3823-F03EEFA0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19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5136-1A0B-EC39-96B7-079D9872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509FE-650C-58F6-FC5C-7A1736506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C03B3-D499-0BCD-BF21-C5D2A763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E4A7-CF67-7F4B-29E3-33496167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59AA2-25CB-AB26-518A-C97C7632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58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F0BD8-65B1-7A7A-6410-C664D198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76B6F-843B-C23E-9AFE-51B7EC228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BFB13-B701-1960-F608-D09D2930D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7B2C9-1237-A52E-1324-98A2AC29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01604-EAF3-A3A1-FAA0-5BEB5FF6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4CAD9-6EFB-319B-04D4-0EE9E423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46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C166-E92D-6EB5-44D6-E72D0188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87B99-5ADB-4AAE-2974-70C6FD15C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91407-CEFE-2653-944A-BD9D498C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4329A-D0DE-3534-04D2-2FFEED31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7171AE-4C03-F528-9EC7-43D4692E6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36C46-0E8F-42DE-652A-FC9328C5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E93B1A-CB6B-0743-2079-96493BC8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C9001-2D75-4AF0-2EB2-8B1B82DE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0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0053-C86D-62BA-1BD0-AB027F6F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88E8A-3043-74CD-B3AE-5ED62F35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EF0DF-EEC7-C7B0-B0B8-34BE6B84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A9C39-F32B-451B-819D-B36F4DCF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065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37CC5-4105-53EA-A8A0-766A3A71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C2DB8-6B0F-EF5E-2D81-775DDB05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4C759-C8BA-2525-E959-7DFD55C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222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E6D2-D1A1-FFB6-FF36-93395E54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96DB2-0D25-7EE3-E51E-970D65EF2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E09BC-4F83-289C-929E-3E2F9E9AA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868E7-C813-1103-B9DA-E43DC26D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79255-D4D0-31B6-880B-7FD44B3E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5FEC8-F372-A94B-D9CF-F2D946D8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35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4688-2895-5BD3-F414-D33AB4076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3FD83-37D5-D54E-A860-B8FA21D8B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B6265-5C05-BCF7-2342-B2A422A6E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C75D0-2D97-5769-EA8F-D1947DA8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D7ECB-BEF9-A33E-61F6-6FAD78E2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93C1B-33D1-75AE-DF8C-3FCE3A83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4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7479-4068-B5B1-3F24-B512ED7E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DCDA1-50F3-C147-6EE7-229B30E89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77BBE-76F5-5A64-0EE8-4EF344E5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2352-03BA-28A8-C6BE-52502AB7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CA267-68AA-D017-B9EA-0968DA27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978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E775C-F912-2AAF-C297-2A5AFDF64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1C6E7-6177-986D-6304-F55E9F3D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40A7-7F56-028F-DADC-E5F192CF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620B-48E1-700D-2E47-554B614E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AA0E-704F-B55D-C432-2562A813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02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F25A9-5BC3-69A2-8367-B0D74BC5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06481-22CE-117D-C9A1-DFF488F76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15ACD-7894-7537-BCA8-576EC8A79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4835B-4CF8-427B-9D1C-1685548E1FE0}" type="datetimeFigureOut">
              <a:rPr lang="en-GB" smtClean="0"/>
              <a:t>12/11/2022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21847-C7F6-12E5-0F7F-7CD6616EB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1D267-DF4B-CD25-DF96-048603C72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8A11C-5736-41B7-AC4D-BA9A9A6B51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89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0128-6BF4-ACEB-B1ED-C6361A0F2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MySQL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E37B-0D6A-C811-BB9D-308243473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04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2286-51FE-269F-6152-0C5DDE27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DC51-6BFA-E282-029C-2E6E116B6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tables: Employee, Project and </a:t>
            </a:r>
            <a:r>
              <a:rPr lang="en-GB" dirty="0" err="1"/>
              <a:t>Works_on</a:t>
            </a:r>
            <a:endParaRPr lang="en-GB" dirty="0"/>
          </a:p>
          <a:p>
            <a:r>
              <a:rPr lang="en-GB" dirty="0"/>
              <a:t>Insert data into tables (you can use </a:t>
            </a:r>
            <a:r>
              <a:rPr lang="en-GB" dirty="0" err="1"/>
              <a:t>Employee_Projects</a:t>
            </a:r>
            <a:r>
              <a:rPr lang="en-GB" dirty="0"/>
              <a:t> Script.txt file)</a:t>
            </a:r>
          </a:p>
        </p:txBody>
      </p:sp>
    </p:spTree>
    <p:extLst>
      <p:ext uri="{BB962C8B-B14F-4D97-AF65-F5344CB8AC3E}">
        <p14:creationId xmlns:p14="http://schemas.microsoft.com/office/powerpoint/2010/main" val="414417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417646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EMPLOYEE_PROJECTS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126890" y="3119199"/>
          <a:ext cx="3384376" cy="35471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role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852341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852455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852455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251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852530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75520" y="4869161"/>
          <a:ext cx="3108960" cy="17735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leader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121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IT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Gates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Sinclair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Analysis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Einstein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Publicity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Saatchi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Theatre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Dench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251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Sport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Shearer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44255"/>
          <a:ext cx="3635896" cy="2026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3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500881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sdate</a:t>
                      </a:r>
                      <a:endParaRPr lang="en-GB" sz="16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salary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floor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852341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Smith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2019/01/12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15000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Jones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2019/07/11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19000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Brown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2020/03/03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16000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852455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White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2020/04/09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25100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Adams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2018/07/12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30500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Doyle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2018/11/12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11650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852530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Evans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2020/08/06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26980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80734" y="974600"/>
            <a:ext cx="88569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19663" indent="-4749800">
              <a:spcAft>
                <a:spcPts val="600"/>
              </a:spcAft>
            </a:pPr>
            <a:r>
              <a:rPr lang="en-US" dirty="0"/>
              <a:t>Consider the following relational schema:     </a:t>
            </a:r>
            <a:r>
              <a:rPr lang="en-US" b="1" dirty="0"/>
              <a:t>EMPLOYEE</a:t>
            </a:r>
            <a:r>
              <a:rPr lang="en-US" dirty="0"/>
              <a:t> (</a:t>
            </a:r>
            <a:r>
              <a:rPr lang="en-US" u="sng" dirty="0" err="1"/>
              <a:t>enum</a:t>
            </a:r>
            <a:r>
              <a:rPr lang="en-US" dirty="0"/>
              <a:t> , 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sdate</a:t>
            </a:r>
            <a:r>
              <a:rPr lang="en-US" dirty="0"/>
              <a:t>, salary, floor)</a:t>
            </a:r>
          </a:p>
          <a:p>
            <a:pPr marL="4919663" indent="-4749800">
              <a:spcAft>
                <a:spcPts val="600"/>
              </a:spcAft>
            </a:pPr>
            <a:r>
              <a:rPr lang="en-US" b="1" dirty="0"/>
              <a:t>                                                                               PROJECT</a:t>
            </a:r>
            <a:r>
              <a:rPr lang="en-US" dirty="0"/>
              <a:t> (</a:t>
            </a:r>
            <a:r>
              <a:rPr lang="en-US" u="sng" dirty="0" err="1"/>
              <a:t>pnum</a:t>
            </a:r>
            <a:r>
              <a:rPr lang="en-US" dirty="0"/>
              <a:t> , </a:t>
            </a:r>
            <a:r>
              <a:rPr lang="en-US" dirty="0" err="1"/>
              <a:t>pname</a:t>
            </a:r>
            <a:r>
              <a:rPr lang="en-US" dirty="0"/>
              <a:t>, leader)</a:t>
            </a:r>
          </a:p>
          <a:p>
            <a:pPr marL="4919663" indent="-4749800">
              <a:spcAft>
                <a:spcPts val="600"/>
              </a:spcAft>
            </a:pPr>
            <a:r>
              <a:rPr lang="en-US" b="1" dirty="0"/>
              <a:t>                                                                               WORKS_ON</a:t>
            </a:r>
            <a:r>
              <a:rPr lang="en-US" dirty="0"/>
              <a:t> (</a:t>
            </a:r>
            <a:r>
              <a:rPr lang="en-US" u="sng" dirty="0" err="1"/>
              <a:t>enum</a:t>
            </a:r>
            <a:r>
              <a:rPr lang="en-US" dirty="0"/>
              <a:t>* , </a:t>
            </a:r>
            <a:r>
              <a:rPr lang="en-US" u="sng" dirty="0" err="1"/>
              <a:t>pnum</a:t>
            </a:r>
            <a:r>
              <a:rPr lang="en-US" dirty="0"/>
              <a:t>* , role)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1504" y="1606346"/>
            <a:ext cx="4176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 sample data as shown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1789536" y="2216694"/>
            <a:ext cx="126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EMPLOYEE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7248131" y="2749867"/>
            <a:ext cx="13886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WORKS_ON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786028" y="4588158"/>
            <a:ext cx="126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PROJECT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5114014" y="2878006"/>
            <a:ext cx="18722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Notice the </a:t>
            </a:r>
            <a:r>
              <a:rPr lang="en-US" dirty="0" err="1">
                <a:solidFill>
                  <a:srgbClr val="7030A0"/>
                </a:solidFill>
              </a:rPr>
              <a:t>PKs</a:t>
            </a:r>
            <a:r>
              <a:rPr lang="en-US" dirty="0">
                <a:solidFill>
                  <a:srgbClr val="7030A0"/>
                </a:solidFill>
              </a:rPr>
              <a:t> and </a:t>
            </a:r>
            <a:r>
              <a:rPr lang="en-US" dirty="0" err="1">
                <a:solidFill>
                  <a:srgbClr val="7030A0"/>
                </a:solidFill>
              </a:rPr>
              <a:t>FKs</a:t>
            </a:r>
            <a:r>
              <a:rPr lang="en-US" dirty="0">
                <a:solidFill>
                  <a:srgbClr val="7030A0"/>
                </a:solidFill>
              </a:rPr>
              <a:t>, and how the tables will be linked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14014" y="5589241"/>
            <a:ext cx="18722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Can an attribute be </a:t>
            </a:r>
            <a:r>
              <a:rPr lang="en-US" b="1" dirty="0">
                <a:solidFill>
                  <a:srgbClr val="C00000"/>
                </a:solidFill>
              </a:rPr>
              <a:t>NULL</a:t>
            </a:r>
            <a:r>
              <a:rPr lang="en-US" dirty="0">
                <a:solidFill>
                  <a:srgbClr val="7030A0"/>
                </a:solidFill>
              </a:rPr>
              <a:t>?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14014" y="4510623"/>
            <a:ext cx="18722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Decide on the Data Types</a:t>
            </a:r>
            <a:endParaRPr lang="en-GB" dirty="0">
              <a:solidFill>
                <a:srgbClr val="7030A0"/>
              </a:solidFill>
            </a:endParaRPr>
          </a:p>
        </p:txBody>
      </p:sp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24080241-8968-A340-BFBB-8CBB29FFB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55380"/>
              </p:ext>
            </p:extLst>
          </p:nvPr>
        </p:nvGraphicFramePr>
        <p:xfrm>
          <a:off x="6096000" y="160987"/>
          <a:ext cx="391121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1210">
                  <a:extLst>
                    <a:ext uri="{9D8B030D-6E8A-4147-A177-3AD203B41FA5}">
                      <a16:colId xmlns:a16="http://schemas.microsoft.com/office/drawing/2014/main" val="1014505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CREATE DATABASE DATABASENAME;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504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C743F0C-5C18-184E-B6FA-35C316F5E646}"/>
                  </a:ext>
                </a:extLst>
              </p14:cNvPr>
              <p14:cNvContentPartPr/>
              <p14:nvPr/>
            </p14:nvContentPartPr>
            <p14:xfrm>
              <a:off x="4309028" y="5340318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C743F0C-5C18-184E-B6FA-35C316F5E6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04708" y="533599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575291-3206-184F-ADBB-9710544EC415}"/>
                  </a:ext>
                </a:extLst>
              </p14:cNvPr>
              <p14:cNvContentPartPr/>
              <p14:nvPr/>
            </p14:nvContentPartPr>
            <p14:xfrm>
              <a:off x="12649794" y="409038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575291-3206-184F-ADBB-9710544EC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5474" y="404718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723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07468" y="17545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SQL – Example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1504" y="758027"/>
            <a:ext cx="4428492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1. Create the EMPLOYEE Table</a:t>
            </a:r>
          </a:p>
          <a:p>
            <a:pPr marL="4919663" indent="-4749800">
              <a:spcAft>
                <a:spcPts val="600"/>
              </a:spcAft>
            </a:pPr>
            <a:r>
              <a:rPr lang="en-US" b="1" dirty="0"/>
              <a:t>EMPLOYEE</a:t>
            </a:r>
            <a:r>
              <a:rPr lang="en-US" dirty="0"/>
              <a:t> (</a:t>
            </a:r>
            <a:r>
              <a:rPr lang="en-US" u="sng" dirty="0" err="1"/>
              <a:t>enum</a:t>
            </a:r>
            <a:r>
              <a:rPr lang="en-US" dirty="0"/>
              <a:t> , </a:t>
            </a:r>
            <a:r>
              <a:rPr lang="en-US" dirty="0" err="1"/>
              <a:t>ename</a:t>
            </a:r>
            <a:r>
              <a:rPr lang="en-US" dirty="0"/>
              <a:t>, salary, floor)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6028" y="1493251"/>
            <a:ext cx="126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EMPLOYEE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5735960" y="3469601"/>
            <a:ext cx="46448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GB" b="1" dirty="0">
                <a:solidFill>
                  <a:srgbClr val="C00000"/>
                </a:solidFill>
              </a:rPr>
              <a:t>CREATE TABLE </a:t>
            </a:r>
            <a:r>
              <a:rPr lang="en-GB" dirty="0"/>
              <a:t>EMPLOYEE (</a:t>
            </a:r>
          </a:p>
          <a:p>
            <a:pPr marL="228600"/>
            <a:r>
              <a:rPr lang="en-GB" dirty="0" err="1"/>
              <a:t>enum</a:t>
            </a:r>
            <a:r>
              <a:rPr lang="en-GB" dirty="0"/>
              <a:t>  </a:t>
            </a:r>
            <a:r>
              <a:rPr lang="en-GB" dirty="0" err="1"/>
              <a:t>int</a:t>
            </a:r>
            <a:r>
              <a:rPr lang="en-GB" dirty="0"/>
              <a:t>  </a:t>
            </a:r>
            <a:r>
              <a:rPr lang="en-GB" b="1" dirty="0">
                <a:solidFill>
                  <a:srgbClr val="C00000"/>
                </a:solidFill>
              </a:rPr>
              <a:t>not null</a:t>
            </a:r>
            <a:r>
              <a:rPr lang="en-GB" dirty="0"/>
              <a:t>,</a:t>
            </a:r>
          </a:p>
          <a:p>
            <a:pPr marL="228600"/>
            <a:r>
              <a:rPr lang="en-GB" dirty="0" err="1"/>
              <a:t>ename</a:t>
            </a:r>
            <a:r>
              <a:rPr lang="en-GB" dirty="0"/>
              <a:t> char (15),</a:t>
            </a:r>
          </a:p>
          <a:p>
            <a:pPr marL="228600"/>
            <a:r>
              <a:rPr lang="en-GB" dirty="0" err="1"/>
              <a:t>sdate</a:t>
            </a:r>
            <a:r>
              <a:rPr lang="en-GB" dirty="0"/>
              <a:t> date,</a:t>
            </a:r>
          </a:p>
          <a:p>
            <a:pPr marL="228600"/>
            <a:r>
              <a:rPr lang="en-GB" dirty="0"/>
              <a:t>salary decimal (7,2),</a:t>
            </a:r>
          </a:p>
          <a:p>
            <a:pPr marL="228600"/>
            <a:r>
              <a:rPr lang="en-GB" dirty="0"/>
              <a:t>floor </a:t>
            </a:r>
            <a:r>
              <a:rPr lang="en-GB" dirty="0" err="1"/>
              <a:t>tinyint</a:t>
            </a:r>
            <a:r>
              <a:rPr lang="en-GB" dirty="0"/>
              <a:t>,</a:t>
            </a:r>
          </a:p>
          <a:p>
            <a:pPr marL="228600"/>
            <a:r>
              <a:rPr lang="en-GB" b="1" dirty="0">
                <a:solidFill>
                  <a:srgbClr val="C00000"/>
                </a:solidFill>
              </a:rPr>
              <a:t>CONSTRAINT</a:t>
            </a:r>
            <a:r>
              <a:rPr lang="en-GB" dirty="0"/>
              <a:t> </a:t>
            </a:r>
            <a:r>
              <a:rPr lang="en-GB" dirty="0" err="1"/>
              <a:t>pk_emp</a:t>
            </a:r>
            <a:r>
              <a:rPr lang="en-GB" dirty="0"/>
              <a:t> </a:t>
            </a:r>
            <a:r>
              <a:rPr lang="en-GB" b="1" dirty="0">
                <a:solidFill>
                  <a:srgbClr val="C00000"/>
                </a:solidFill>
              </a:rPr>
              <a:t>PRIMARY KEY </a:t>
            </a:r>
            <a:r>
              <a:rPr lang="en-GB" dirty="0"/>
              <a:t>(</a:t>
            </a:r>
            <a:r>
              <a:rPr lang="en-GB" dirty="0" err="1"/>
              <a:t>enum</a:t>
            </a:r>
            <a:r>
              <a:rPr lang="en-GB" dirty="0"/>
              <a:t>)</a:t>
            </a:r>
          </a:p>
          <a:p>
            <a:pPr>
              <a:buFontTx/>
              <a:buNone/>
            </a:pPr>
            <a:r>
              <a:rPr lang="en-GB" dirty="0"/>
              <a:t>);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877175" y="2673794"/>
            <a:ext cx="2736304" cy="1619302"/>
            <a:chOff x="6401747" y="2047249"/>
            <a:chExt cx="2736304" cy="1619302"/>
          </a:xfrm>
        </p:grpSpPr>
        <p:sp>
          <p:nvSpPr>
            <p:cNvPr id="8" name="Rectangle 7"/>
            <p:cNvSpPr/>
            <p:nvPr/>
          </p:nvSpPr>
          <p:spPr>
            <a:xfrm>
              <a:off x="6401747" y="2047249"/>
              <a:ext cx="273630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b="1" dirty="0">
                  <a:solidFill>
                    <a:srgbClr val="7030A0"/>
                  </a:solidFill>
                </a:rPr>
                <a:t>Don’t waste storage space – 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choose data types that are just large enough. </a:t>
              </a:r>
            </a:p>
          </p:txBody>
        </p:sp>
        <p:cxnSp>
          <p:nvCxnSpPr>
            <p:cNvPr id="11" name="Straight Arrow Connector 10"/>
            <p:cNvCxnSpPr>
              <a:stCxn id="8" idx="2"/>
            </p:cNvCxnSpPr>
            <p:nvPr/>
          </p:nvCxnSpPr>
          <p:spPr>
            <a:xfrm flipH="1">
              <a:off x="6401747" y="2785913"/>
              <a:ext cx="1368152" cy="880638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7444216" y="5464892"/>
            <a:ext cx="3024336" cy="1046905"/>
            <a:chOff x="5832484" y="4715631"/>
            <a:chExt cx="3024336" cy="1046905"/>
          </a:xfrm>
        </p:grpSpPr>
        <p:sp>
          <p:nvSpPr>
            <p:cNvPr id="10" name="Rectangle 9"/>
            <p:cNvSpPr/>
            <p:nvPr/>
          </p:nvSpPr>
          <p:spPr>
            <a:xfrm>
              <a:off x="5832484" y="5239316"/>
              <a:ext cx="302433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7030A0"/>
                  </a:solidFill>
                </a:rPr>
                <a:t>In this example, </a:t>
              </a:r>
              <a:r>
                <a:rPr lang="en-US" altLang="en-US" sz="1400" dirty="0" err="1">
                  <a:solidFill>
                    <a:srgbClr val="7030A0"/>
                  </a:solidFill>
                </a:rPr>
                <a:t>pk_emp</a:t>
              </a:r>
              <a:r>
                <a:rPr lang="en-US" altLang="en-US" sz="1400" dirty="0">
                  <a:solidFill>
                    <a:srgbClr val="7030A0"/>
                  </a:solidFill>
                </a:rPr>
                <a:t> is the </a:t>
              </a:r>
              <a:r>
                <a:rPr lang="en-US" altLang="en-US" sz="1400" b="1" dirty="0">
                  <a:solidFill>
                    <a:srgbClr val="7030A0"/>
                  </a:solidFill>
                </a:rPr>
                <a:t>name</a:t>
              </a:r>
              <a:r>
                <a:rPr lang="en-US" altLang="en-US" sz="1400" dirty="0">
                  <a:solidFill>
                    <a:srgbClr val="7030A0"/>
                  </a:solidFill>
                </a:rPr>
                <a:t> given to the Primary Key Constraint</a:t>
              </a:r>
              <a:endParaRPr lang="en-US" altLang="en-US" sz="1400" i="1" dirty="0">
                <a:solidFill>
                  <a:srgbClr val="7030A0"/>
                </a:solidFill>
              </a:endParaRPr>
            </a:p>
          </p:txBody>
        </p:sp>
        <p:cxnSp>
          <p:nvCxnSpPr>
            <p:cNvPr id="13" name="Straight Arrow Connector 12"/>
            <p:cNvCxnSpPr>
              <a:stCxn id="10" idx="0"/>
            </p:cNvCxnSpPr>
            <p:nvPr/>
          </p:nvCxnSpPr>
          <p:spPr>
            <a:xfrm flipH="1" flipV="1">
              <a:off x="6394511" y="4715631"/>
              <a:ext cx="950141" cy="523685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845750" y="5363237"/>
            <a:ext cx="3024336" cy="1551232"/>
            <a:chOff x="2457195" y="5175776"/>
            <a:chExt cx="3024336" cy="1551232"/>
          </a:xfrm>
        </p:grpSpPr>
        <p:sp>
          <p:nvSpPr>
            <p:cNvPr id="12" name="Rectangle 11"/>
            <p:cNvSpPr/>
            <p:nvPr/>
          </p:nvSpPr>
          <p:spPr>
            <a:xfrm>
              <a:off x="2457195" y="5988344"/>
              <a:ext cx="302433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b="1" dirty="0">
                  <a:solidFill>
                    <a:srgbClr val="7030A0"/>
                  </a:solidFill>
                </a:rPr>
                <a:t>Primary Key Constraint – 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can be added when the table is created, or added later using an ALTER TABLE statement. </a:t>
              </a:r>
            </a:p>
          </p:txBody>
        </p:sp>
        <p:cxnSp>
          <p:nvCxnSpPr>
            <p:cNvPr id="16" name="Straight Arrow Connector 15"/>
            <p:cNvCxnSpPr>
              <a:stCxn id="12" idx="0"/>
            </p:cNvCxnSpPr>
            <p:nvPr/>
          </p:nvCxnSpPr>
          <p:spPr>
            <a:xfrm flipV="1">
              <a:off x="3969363" y="5175776"/>
              <a:ext cx="890669" cy="812568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1941909" y="3932639"/>
            <a:ext cx="3996788" cy="1667555"/>
            <a:chOff x="395536" y="3508221"/>
            <a:chExt cx="3996788" cy="1667555"/>
          </a:xfrm>
        </p:grpSpPr>
        <p:sp>
          <p:nvSpPr>
            <p:cNvPr id="7" name="Rectangle 6"/>
            <p:cNvSpPr/>
            <p:nvPr/>
          </p:nvSpPr>
          <p:spPr>
            <a:xfrm>
              <a:off x="395536" y="4437112"/>
              <a:ext cx="302433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b="1" dirty="0">
                  <a:solidFill>
                    <a:srgbClr val="7030A0"/>
                  </a:solidFill>
                </a:rPr>
                <a:t>Entity Integrity</a:t>
              </a:r>
              <a:r>
                <a:rPr lang="en-US" altLang="en-US" sz="1400" dirty="0">
                  <a:solidFill>
                    <a:srgbClr val="7030A0"/>
                  </a:solidFill>
                </a:rPr>
                <a:t> - n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o attributes participating in the primary key of a relation can accept null values.</a:t>
              </a:r>
              <a:r>
                <a:rPr lang="en-US" altLang="en-US" sz="1400" dirty="0">
                  <a:solidFill>
                    <a:srgbClr val="7030A0"/>
                  </a:solidFill>
                </a:rPr>
                <a:t> </a:t>
              </a:r>
            </a:p>
          </p:txBody>
        </p:sp>
        <p:cxnSp>
          <p:nvCxnSpPr>
            <p:cNvPr id="19" name="Straight Arrow Connector 18"/>
            <p:cNvCxnSpPr>
              <a:stCxn id="7" idx="0"/>
            </p:cNvCxnSpPr>
            <p:nvPr/>
          </p:nvCxnSpPr>
          <p:spPr>
            <a:xfrm flipH="1" flipV="1">
              <a:off x="661195" y="3587527"/>
              <a:ext cx="1246509" cy="849585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0"/>
            </p:cNvCxnSpPr>
            <p:nvPr/>
          </p:nvCxnSpPr>
          <p:spPr>
            <a:xfrm flipV="1">
              <a:off x="1907704" y="3508221"/>
              <a:ext cx="2484620" cy="928891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5784712" y="512612"/>
            <a:ext cx="497906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SQL Style Guide:</a:t>
            </a:r>
          </a:p>
          <a:p>
            <a:pPr marL="808038" indent="-622300"/>
            <a:r>
              <a:rPr lang="en-GB" dirty="0">
                <a:solidFill>
                  <a:srgbClr val="0070C0"/>
                </a:solidFill>
              </a:rPr>
              <a:t>Table names </a:t>
            </a:r>
            <a:r>
              <a:rPr lang="en-GB" dirty="0"/>
              <a:t>and SQL </a:t>
            </a:r>
            <a:r>
              <a:rPr lang="en-GB" dirty="0">
                <a:solidFill>
                  <a:srgbClr val="0070C0"/>
                </a:solidFill>
              </a:rPr>
              <a:t>Reserved words </a:t>
            </a:r>
            <a:r>
              <a:rPr lang="en-GB" dirty="0"/>
              <a:t>– ALL CAPS, words separated by underscore (_)</a:t>
            </a:r>
          </a:p>
          <a:p>
            <a:pPr marL="808038" indent="-622300">
              <a:spcBef>
                <a:spcPts val="600"/>
              </a:spcBef>
            </a:pPr>
            <a:r>
              <a:rPr lang="en-GB" dirty="0">
                <a:solidFill>
                  <a:srgbClr val="0070C0"/>
                </a:solidFill>
              </a:rPr>
              <a:t>Attribute names </a:t>
            </a:r>
            <a:r>
              <a:rPr lang="en-GB" dirty="0"/>
              <a:t>– meaningful, all lowercase, words separated by underscore (_)</a:t>
            </a:r>
          </a:p>
          <a:p>
            <a:pPr marL="808038" indent="-622300">
              <a:spcBef>
                <a:spcPts val="600"/>
              </a:spcBef>
            </a:pPr>
            <a:r>
              <a:rPr lang="en-GB" dirty="0">
                <a:solidFill>
                  <a:srgbClr val="0070C0"/>
                </a:solidFill>
              </a:rPr>
              <a:t>Layout</a:t>
            </a:r>
            <a:r>
              <a:rPr lang="en-GB" dirty="0"/>
              <a:t> – generally, one SQL clause per line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CF0016D-A5A6-954F-937F-564E960FFF4F}"/>
              </a:ext>
            </a:extLst>
          </p:cNvPr>
          <p:cNvGraphicFramePr>
            <a:graphicFrameLocks noGrp="1"/>
          </p:cNvGraphicFramePr>
          <p:nvPr/>
        </p:nvGraphicFramePr>
        <p:xfrm>
          <a:off x="1786028" y="1881995"/>
          <a:ext cx="3635896" cy="2026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3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500881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sdate</a:t>
                      </a:r>
                      <a:endParaRPr lang="en-GB" sz="16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salary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floor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852341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Smith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2019/01/12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15000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Jones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2019/07/11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19000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Brown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2020/03/03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16000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852455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White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2020/04/09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25100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Adams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2018/07/12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30500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Doyle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2018/11/12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11650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852530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Evans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2020/08/06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26980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CF1159A-12B4-CA4A-A9C6-FA677665C901}"/>
                  </a:ext>
                </a:extLst>
              </p14:cNvPr>
              <p14:cNvContentPartPr/>
              <p14:nvPr/>
            </p14:nvContentPartPr>
            <p14:xfrm>
              <a:off x="7491379" y="3792678"/>
              <a:ext cx="384480" cy="3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CF1159A-12B4-CA4A-A9C6-FA677665C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7059" y="3788358"/>
                <a:ext cx="393120" cy="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748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3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952162" y="170259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SQL – Example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1140" y="831561"/>
            <a:ext cx="46448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GB" b="1" dirty="0">
                <a:solidFill>
                  <a:srgbClr val="C00000"/>
                </a:solidFill>
              </a:rPr>
              <a:t>CREATE TABLE </a:t>
            </a:r>
            <a:r>
              <a:rPr lang="en-GB" dirty="0"/>
              <a:t>EMPLOYEE (</a:t>
            </a:r>
          </a:p>
          <a:p>
            <a:pPr marL="228600"/>
            <a:r>
              <a:rPr lang="en-GB" dirty="0" err="1"/>
              <a:t>enum</a:t>
            </a:r>
            <a:r>
              <a:rPr lang="en-GB" dirty="0"/>
              <a:t>  </a:t>
            </a:r>
            <a:r>
              <a:rPr lang="en-GB" dirty="0" err="1"/>
              <a:t>int</a:t>
            </a:r>
            <a:r>
              <a:rPr lang="en-GB" dirty="0"/>
              <a:t>  </a:t>
            </a:r>
            <a:r>
              <a:rPr lang="en-GB" b="1" dirty="0">
                <a:solidFill>
                  <a:srgbClr val="C00000"/>
                </a:solidFill>
              </a:rPr>
              <a:t>not null</a:t>
            </a:r>
            <a:r>
              <a:rPr lang="en-GB" dirty="0"/>
              <a:t>,</a:t>
            </a:r>
          </a:p>
          <a:p>
            <a:pPr marL="228600"/>
            <a:r>
              <a:rPr lang="en-GB" dirty="0" err="1"/>
              <a:t>ename</a:t>
            </a:r>
            <a:r>
              <a:rPr lang="en-GB" dirty="0"/>
              <a:t> char (15),</a:t>
            </a:r>
          </a:p>
          <a:p>
            <a:pPr marL="228600"/>
            <a:r>
              <a:rPr lang="en-GB" dirty="0" err="1"/>
              <a:t>sdate</a:t>
            </a:r>
            <a:r>
              <a:rPr lang="en-GB" dirty="0"/>
              <a:t> date,</a:t>
            </a:r>
          </a:p>
          <a:p>
            <a:pPr marL="228600"/>
            <a:r>
              <a:rPr lang="en-GB" dirty="0"/>
              <a:t>salary decimal (7,2),</a:t>
            </a:r>
          </a:p>
          <a:p>
            <a:pPr marL="228600"/>
            <a:r>
              <a:rPr lang="en-GB" dirty="0"/>
              <a:t>floor </a:t>
            </a:r>
            <a:r>
              <a:rPr lang="en-GB" dirty="0" err="1"/>
              <a:t>tinyint</a:t>
            </a:r>
            <a:r>
              <a:rPr lang="en-GB" dirty="0"/>
              <a:t>,</a:t>
            </a:r>
          </a:p>
          <a:p>
            <a:pPr marL="228600"/>
            <a:r>
              <a:rPr lang="en-GB" b="1" dirty="0">
                <a:solidFill>
                  <a:srgbClr val="C00000"/>
                </a:solidFill>
              </a:rPr>
              <a:t>CONSTRAINT</a:t>
            </a:r>
            <a:r>
              <a:rPr lang="en-GB" dirty="0"/>
              <a:t> </a:t>
            </a:r>
            <a:r>
              <a:rPr lang="en-GB" dirty="0" err="1"/>
              <a:t>pk_emp</a:t>
            </a:r>
            <a:r>
              <a:rPr lang="en-GB" dirty="0"/>
              <a:t> </a:t>
            </a:r>
            <a:r>
              <a:rPr lang="en-GB" b="1" dirty="0">
                <a:solidFill>
                  <a:srgbClr val="C00000"/>
                </a:solidFill>
              </a:rPr>
              <a:t>PRIMARY KEY </a:t>
            </a:r>
            <a:r>
              <a:rPr lang="en-GB" dirty="0"/>
              <a:t>(</a:t>
            </a:r>
            <a:r>
              <a:rPr lang="en-GB" dirty="0" err="1"/>
              <a:t>enum</a:t>
            </a:r>
            <a:r>
              <a:rPr lang="en-GB" dirty="0"/>
              <a:t>)</a:t>
            </a:r>
          </a:p>
          <a:p>
            <a:pPr>
              <a:buFontTx/>
              <a:buNone/>
            </a:pPr>
            <a:r>
              <a:rPr lang="en-GB" dirty="0"/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C2B73-33B7-7043-AC6A-986175CEE48C}"/>
              </a:ext>
            </a:extLst>
          </p:cNvPr>
          <p:cNvSpPr txBox="1"/>
          <p:nvPr/>
        </p:nvSpPr>
        <p:spPr>
          <a:xfrm>
            <a:off x="4489107" y="1186844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Table level constraint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D3A167-C9F1-E54C-8D63-F8B1CDCD4520}"/>
              </a:ext>
            </a:extLst>
          </p:cNvPr>
          <p:cNvCxnSpPr>
            <a:cxnSpLocks/>
          </p:cNvCxnSpPr>
          <p:nvPr/>
        </p:nvCxnSpPr>
        <p:spPr>
          <a:xfrm flipH="1">
            <a:off x="4813143" y="1494620"/>
            <a:ext cx="798848" cy="683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F67D6AD-3A49-0442-AE0F-79ACBF05884E}"/>
              </a:ext>
            </a:extLst>
          </p:cNvPr>
          <p:cNvSpPr/>
          <p:nvPr/>
        </p:nvSpPr>
        <p:spPr>
          <a:xfrm>
            <a:off x="1425669" y="3101188"/>
            <a:ext cx="46448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GB" b="1" dirty="0">
                <a:solidFill>
                  <a:srgbClr val="C00000"/>
                </a:solidFill>
              </a:rPr>
              <a:t>CREATE TABLE </a:t>
            </a:r>
            <a:r>
              <a:rPr lang="en-GB" dirty="0"/>
              <a:t>EMPLOYEE (</a:t>
            </a:r>
          </a:p>
          <a:p>
            <a:pPr marL="228600"/>
            <a:r>
              <a:rPr lang="en-GB" dirty="0" err="1"/>
              <a:t>enum</a:t>
            </a:r>
            <a:r>
              <a:rPr lang="en-GB" dirty="0"/>
              <a:t>  int  </a:t>
            </a:r>
            <a:r>
              <a:rPr lang="en-GB" b="1" dirty="0">
                <a:solidFill>
                  <a:srgbClr val="C00000"/>
                </a:solidFill>
              </a:rPr>
              <a:t>PRIMARY KEY</a:t>
            </a:r>
            <a:r>
              <a:rPr lang="en-GB" dirty="0"/>
              <a:t>,</a:t>
            </a:r>
          </a:p>
          <a:p>
            <a:pPr marL="228600"/>
            <a:r>
              <a:rPr lang="en-GB" dirty="0" err="1"/>
              <a:t>ename</a:t>
            </a:r>
            <a:r>
              <a:rPr lang="en-GB" dirty="0"/>
              <a:t> char (15),</a:t>
            </a:r>
          </a:p>
          <a:p>
            <a:pPr marL="228600"/>
            <a:r>
              <a:rPr lang="en-GB" dirty="0" err="1"/>
              <a:t>sdate</a:t>
            </a:r>
            <a:r>
              <a:rPr lang="en-GB" dirty="0"/>
              <a:t> date,</a:t>
            </a:r>
          </a:p>
          <a:p>
            <a:pPr marL="228600"/>
            <a:r>
              <a:rPr lang="en-GB" dirty="0"/>
              <a:t>salary decimal (7,2),</a:t>
            </a:r>
          </a:p>
          <a:p>
            <a:pPr marL="228600"/>
            <a:r>
              <a:rPr lang="en-GB" dirty="0"/>
              <a:t>floor </a:t>
            </a:r>
            <a:r>
              <a:rPr lang="en-GB" dirty="0" err="1"/>
              <a:t>tinyint</a:t>
            </a:r>
            <a:r>
              <a:rPr lang="en-GB" dirty="0"/>
              <a:t>,</a:t>
            </a:r>
          </a:p>
          <a:p>
            <a:pPr>
              <a:buFontTx/>
              <a:buNone/>
            </a:pPr>
            <a:r>
              <a:rPr lang="en-GB" dirty="0"/>
              <a:t>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0DCBE6-658A-5143-A4CE-01BFC2F922B1}"/>
              </a:ext>
            </a:extLst>
          </p:cNvPr>
          <p:cNvSpPr txBox="1"/>
          <p:nvPr/>
        </p:nvSpPr>
        <p:spPr>
          <a:xfrm>
            <a:off x="4572009" y="279062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column level constraint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DB6633-1C34-AA41-999F-68AB35D11DA9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4097315" y="3098400"/>
            <a:ext cx="1554814" cy="47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A1B2C33-47E3-A241-B54D-72E9400243B0}"/>
              </a:ext>
            </a:extLst>
          </p:cNvPr>
          <p:cNvSpPr txBox="1"/>
          <p:nvPr/>
        </p:nvSpPr>
        <p:spPr>
          <a:xfrm>
            <a:off x="7223019" y="279956"/>
            <a:ext cx="27933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CONSTRAINT</a:t>
            </a:r>
            <a:r>
              <a:rPr lang="en-US" dirty="0"/>
              <a:t> in SQL can be </a:t>
            </a:r>
          </a:p>
          <a:p>
            <a:r>
              <a:rPr lang="en-US" dirty="0"/>
              <a:t>created at:</a:t>
            </a:r>
          </a:p>
          <a:p>
            <a:pPr marL="342900" indent="-342900">
              <a:buAutoNum type="arabicPeriod"/>
            </a:pPr>
            <a:r>
              <a:rPr lang="en-US" dirty="0"/>
              <a:t>Table level</a:t>
            </a:r>
          </a:p>
          <a:p>
            <a:pPr marL="342900" indent="-342900">
              <a:buAutoNum type="arabicPeriod"/>
            </a:pPr>
            <a:r>
              <a:rPr lang="en-US" dirty="0"/>
              <a:t>Column level</a:t>
            </a:r>
          </a:p>
          <a:p>
            <a:r>
              <a:rPr lang="en-US" dirty="0"/>
              <a:t>And finally use the </a:t>
            </a:r>
          </a:p>
          <a:p>
            <a:r>
              <a:rPr lang="en-US" dirty="0"/>
              <a:t>Alter statement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0A617B13-1169-F84D-BC41-5328D841AF24}"/>
              </a:ext>
            </a:extLst>
          </p:cNvPr>
          <p:cNvSpPr/>
          <p:nvPr/>
        </p:nvSpPr>
        <p:spPr>
          <a:xfrm>
            <a:off x="6744072" y="59119"/>
            <a:ext cx="3816424" cy="2196000"/>
          </a:xfrm>
          <a:prstGeom prst="fram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9CE4A-CCA7-BB4B-BF95-0250F304E77A}"/>
              </a:ext>
            </a:extLst>
          </p:cNvPr>
          <p:cNvSpPr txBox="1"/>
          <p:nvPr/>
        </p:nvSpPr>
        <p:spPr>
          <a:xfrm>
            <a:off x="1453361" y="5653698"/>
            <a:ext cx="7854586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GB" b="1" dirty="0">
                <a:solidFill>
                  <a:srgbClr val="C00000"/>
                </a:solidFill>
              </a:rPr>
              <a:t>ALTER TABLE </a:t>
            </a:r>
            <a:r>
              <a:rPr lang="en-GB" b="1" dirty="0">
                <a:solidFill>
                  <a:srgbClr val="0070C0"/>
                </a:solidFill>
              </a:rPr>
              <a:t>WORKS_ON</a:t>
            </a:r>
          </a:p>
          <a:p>
            <a:pPr>
              <a:spcAft>
                <a:spcPts val="600"/>
              </a:spcAft>
            </a:pPr>
            <a:r>
              <a:rPr lang="en-GB" b="1" dirty="0">
                <a:solidFill>
                  <a:srgbClr val="C00000"/>
                </a:solidFill>
              </a:rPr>
              <a:t>ADD CONSTRAINT </a:t>
            </a:r>
            <a:r>
              <a:rPr lang="en-GB" dirty="0"/>
              <a:t>fk_wo2 </a:t>
            </a:r>
            <a:r>
              <a:rPr lang="en-GB" b="1" dirty="0">
                <a:solidFill>
                  <a:srgbClr val="C00000"/>
                </a:solidFill>
              </a:rPr>
              <a:t>FOREIGN KEY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(</a:t>
            </a:r>
            <a:r>
              <a:rPr lang="en-GB" b="1" dirty="0" err="1">
                <a:solidFill>
                  <a:srgbClr val="C00000"/>
                </a:solidFill>
              </a:rPr>
              <a:t>enum</a:t>
            </a:r>
            <a:r>
              <a:rPr lang="en-GB" b="1" dirty="0"/>
              <a:t>) </a:t>
            </a:r>
            <a:r>
              <a:rPr lang="en-GB" dirty="0"/>
              <a:t>REFERENCES</a:t>
            </a:r>
            <a:r>
              <a:rPr lang="en-GB" b="1" dirty="0"/>
              <a:t> </a:t>
            </a:r>
            <a:r>
              <a:rPr lang="en-GB" b="1" dirty="0">
                <a:solidFill>
                  <a:srgbClr val="0070C0"/>
                </a:solidFill>
              </a:rPr>
              <a:t>EMPLOYEE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(</a:t>
            </a:r>
            <a:r>
              <a:rPr lang="en-GB" b="1" dirty="0" err="1">
                <a:solidFill>
                  <a:srgbClr val="C00000"/>
                </a:solidFill>
              </a:rPr>
              <a:t>enum</a:t>
            </a:r>
            <a:r>
              <a:rPr lang="en-GB" b="1" dirty="0"/>
              <a:t>);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54556-5237-284D-96C9-21518F02FBE3}"/>
              </a:ext>
            </a:extLst>
          </p:cNvPr>
          <p:cNvSpPr txBox="1"/>
          <p:nvPr/>
        </p:nvSpPr>
        <p:spPr>
          <a:xfrm>
            <a:off x="1451140" y="5033993"/>
            <a:ext cx="5013808" cy="1000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GB" b="1" dirty="0">
                <a:solidFill>
                  <a:srgbClr val="C00000"/>
                </a:solidFill>
              </a:rPr>
              <a:t>ALTER TABLE </a:t>
            </a:r>
            <a:r>
              <a:rPr lang="en-GB" b="1" dirty="0">
                <a:solidFill>
                  <a:srgbClr val="0070C0"/>
                </a:solidFill>
              </a:rPr>
              <a:t>EMPLOYEE</a:t>
            </a:r>
          </a:p>
          <a:p>
            <a:pPr>
              <a:spcAft>
                <a:spcPts val="600"/>
              </a:spcAft>
            </a:pPr>
            <a:r>
              <a:rPr lang="en-GB" b="1" dirty="0">
                <a:solidFill>
                  <a:srgbClr val="C00000"/>
                </a:solidFill>
              </a:rPr>
              <a:t>ADD CONSTRAINT </a:t>
            </a:r>
            <a:r>
              <a:rPr lang="en-GB" dirty="0"/>
              <a:t>fk_wo1 </a:t>
            </a:r>
            <a:r>
              <a:rPr lang="en-GB" b="1" dirty="0">
                <a:solidFill>
                  <a:srgbClr val="C00000"/>
                </a:solidFill>
              </a:rPr>
              <a:t>PRIMARY KEY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(</a:t>
            </a:r>
            <a:r>
              <a:rPr lang="en-GB" b="1" dirty="0" err="1">
                <a:solidFill>
                  <a:srgbClr val="C00000"/>
                </a:solidFill>
              </a:rPr>
              <a:t>enum</a:t>
            </a:r>
            <a:r>
              <a:rPr lang="en-GB" b="1" dirty="0"/>
              <a:t>);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7027DE-4DF6-F74E-9093-67BEC5D0E1C8}"/>
                  </a:ext>
                </a:extLst>
              </p14:cNvPr>
              <p14:cNvContentPartPr/>
              <p14:nvPr/>
            </p14:nvContentPartPr>
            <p14:xfrm>
              <a:off x="1805665" y="2606502"/>
              <a:ext cx="435600" cy="1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7027DE-4DF6-F74E-9093-67BEC5D0E1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1345" y="2602182"/>
                <a:ext cx="4442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D804855-F1F9-184C-B957-B79792B0CBEF}"/>
                  </a:ext>
                </a:extLst>
              </p14:cNvPr>
              <p14:cNvContentPartPr/>
              <p14:nvPr/>
            </p14:nvContentPartPr>
            <p14:xfrm>
              <a:off x="5808145" y="2710659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D804855-F1F9-184C-B957-B79792B0CB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03825" y="2706339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463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SQL – Example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9329" y="3808836"/>
            <a:ext cx="4428492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3. Create the PROJECT Table</a:t>
            </a:r>
          </a:p>
          <a:p>
            <a:pPr marL="4919663" indent="-4749800">
              <a:spcAft>
                <a:spcPts val="600"/>
              </a:spcAft>
            </a:pPr>
            <a:r>
              <a:rPr lang="en-US" b="1" dirty="0"/>
              <a:t>PROJECT</a:t>
            </a:r>
            <a:r>
              <a:rPr lang="en-US" dirty="0"/>
              <a:t> (</a:t>
            </a:r>
            <a:r>
              <a:rPr lang="en-US" u="sng" dirty="0" err="1"/>
              <a:t>pnum</a:t>
            </a:r>
            <a:r>
              <a:rPr lang="en-US" dirty="0"/>
              <a:t> , </a:t>
            </a:r>
            <a:r>
              <a:rPr lang="en-US" dirty="0" err="1"/>
              <a:t>pname</a:t>
            </a:r>
            <a:r>
              <a:rPr lang="en-US" dirty="0"/>
              <a:t>, leader)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44072" y="692696"/>
          <a:ext cx="3384376" cy="35471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role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852341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852341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852358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852407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852455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852455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852491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121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Assistant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Consultant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852514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251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852530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Manager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829527" y="4555608"/>
            <a:ext cx="1260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PROJECT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493305" y="4589395"/>
            <a:ext cx="4608512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buFontTx/>
              <a:buNone/>
              <a:defRPr b="1"/>
            </a:lvl1pPr>
          </a:lstStyle>
          <a:p>
            <a:pPr>
              <a:spcAft>
                <a:spcPts val="0"/>
              </a:spcAft>
            </a:pPr>
            <a:r>
              <a:rPr lang="en-GB" dirty="0">
                <a:solidFill>
                  <a:srgbClr val="C00000"/>
                </a:solidFill>
              </a:rPr>
              <a:t>CREATE TABLE </a:t>
            </a:r>
            <a:r>
              <a:rPr lang="en-GB" b="0" dirty="0"/>
              <a:t>PROJECT (</a:t>
            </a:r>
          </a:p>
          <a:p>
            <a:pPr marL="266700">
              <a:spcAft>
                <a:spcPts val="0"/>
              </a:spcAft>
            </a:pPr>
            <a:r>
              <a:rPr lang="en-GB" b="0" dirty="0" err="1"/>
              <a:t>pnum</a:t>
            </a:r>
            <a:r>
              <a:rPr lang="en-GB" b="0" dirty="0"/>
              <a:t>  </a:t>
            </a:r>
            <a:r>
              <a:rPr lang="en-GB" b="0" dirty="0" err="1"/>
              <a:t>smallint</a:t>
            </a:r>
            <a:r>
              <a:rPr lang="en-GB" b="0" dirty="0"/>
              <a:t>  </a:t>
            </a:r>
            <a:r>
              <a:rPr lang="en-GB" dirty="0">
                <a:solidFill>
                  <a:srgbClr val="C00000"/>
                </a:solidFill>
              </a:rPr>
              <a:t>not null</a:t>
            </a:r>
            <a:r>
              <a:rPr lang="en-GB" b="0" dirty="0"/>
              <a:t>,</a:t>
            </a:r>
          </a:p>
          <a:p>
            <a:pPr marL="266700">
              <a:spcAft>
                <a:spcPts val="0"/>
              </a:spcAft>
            </a:pPr>
            <a:r>
              <a:rPr lang="en-GB" b="0" dirty="0" err="1"/>
              <a:t>pname</a:t>
            </a:r>
            <a:r>
              <a:rPr lang="en-GB" b="0" dirty="0"/>
              <a:t>  char(15),</a:t>
            </a:r>
          </a:p>
          <a:p>
            <a:pPr marL="266700">
              <a:spcAft>
                <a:spcPts val="0"/>
              </a:spcAft>
            </a:pPr>
            <a:r>
              <a:rPr lang="en-GB" b="0" dirty="0"/>
              <a:t>leader  char(15),</a:t>
            </a:r>
          </a:p>
          <a:p>
            <a:pPr marL="266700">
              <a:spcAft>
                <a:spcPts val="0"/>
              </a:spcAft>
            </a:pPr>
            <a:r>
              <a:rPr lang="en-GB" dirty="0">
                <a:solidFill>
                  <a:srgbClr val="C00000"/>
                </a:solidFill>
              </a:rPr>
              <a:t>CONSTRAINT</a:t>
            </a:r>
            <a:r>
              <a:rPr lang="en-GB" b="0" dirty="0"/>
              <a:t>  </a:t>
            </a:r>
            <a:r>
              <a:rPr lang="en-GB" b="0" dirty="0" err="1"/>
              <a:t>pk_proj</a:t>
            </a:r>
            <a:r>
              <a:rPr lang="en-GB" b="0" dirty="0"/>
              <a:t> </a:t>
            </a:r>
            <a:r>
              <a:rPr lang="en-GB" dirty="0">
                <a:solidFill>
                  <a:srgbClr val="C00000"/>
                </a:solidFill>
              </a:rPr>
              <a:t>PRIMARY KEY </a:t>
            </a:r>
            <a:r>
              <a:rPr lang="en-GB" b="0" dirty="0"/>
              <a:t>(</a:t>
            </a:r>
            <a:r>
              <a:rPr lang="en-GB" b="0" dirty="0" err="1"/>
              <a:t>pnum</a:t>
            </a:r>
            <a:r>
              <a:rPr lang="en-GB" b="0" dirty="0"/>
              <a:t>) </a:t>
            </a:r>
          </a:p>
          <a:p>
            <a:pPr>
              <a:spcAft>
                <a:spcPts val="0"/>
              </a:spcAft>
            </a:pPr>
            <a:r>
              <a:rPr lang="en-GB" b="0" dirty="0"/>
              <a:t>);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75520" y="4869161"/>
          <a:ext cx="3108960" cy="17735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pnum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pname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leader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121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IT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Gates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135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Design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Sinclair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147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Analysis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Einstein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216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Publicity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Saatchi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</a:rPr>
                        <a:t>227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Theatre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Dench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251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>
                          <a:effectLst/>
                        </a:rPr>
                        <a:t>Sport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u="none" strike="noStrike" dirty="0">
                          <a:effectLst/>
                        </a:rPr>
                        <a:t>Shearer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75000" y="350180"/>
            <a:ext cx="13886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WORKS_ON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631504" y="815310"/>
            <a:ext cx="4428492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2. Create the </a:t>
            </a:r>
            <a:r>
              <a:rPr lang="en-US" b="1" dirty="0" err="1"/>
              <a:t>WORK_ON</a:t>
            </a:r>
            <a:r>
              <a:rPr lang="en-US" b="1" dirty="0"/>
              <a:t> Table</a:t>
            </a:r>
          </a:p>
          <a:p>
            <a:pPr marL="4919663" indent="-4749800">
              <a:spcAft>
                <a:spcPts val="600"/>
              </a:spcAft>
            </a:pPr>
            <a:r>
              <a:rPr lang="en-US" b="1" dirty="0" err="1"/>
              <a:t>WORKS_ON</a:t>
            </a:r>
            <a:r>
              <a:rPr lang="en-US" dirty="0"/>
              <a:t> (</a:t>
            </a:r>
            <a:r>
              <a:rPr lang="en-US" u="sng" dirty="0" err="1"/>
              <a:t>enum</a:t>
            </a:r>
            <a:r>
              <a:rPr lang="en-US" dirty="0"/>
              <a:t>* , </a:t>
            </a:r>
            <a:r>
              <a:rPr lang="en-US" u="sng" dirty="0" err="1"/>
              <a:t>pnum</a:t>
            </a:r>
            <a:r>
              <a:rPr lang="en-US" dirty="0"/>
              <a:t>* , role)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822701" y="1620735"/>
            <a:ext cx="5040560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0"/>
              </a:spcAft>
              <a:buFontTx/>
              <a:buNone/>
              <a:defRPr b="1">
                <a:solidFill>
                  <a:srgbClr val="C00000"/>
                </a:solidFill>
              </a:defRPr>
            </a:lvl1pPr>
          </a:lstStyle>
          <a:p>
            <a:r>
              <a:rPr lang="en-GB" dirty="0"/>
              <a:t>CREATE TABLE </a:t>
            </a:r>
            <a:r>
              <a:rPr lang="en-GB" b="0" dirty="0" err="1">
                <a:solidFill>
                  <a:schemeClr val="tx1"/>
                </a:solidFill>
              </a:rPr>
              <a:t>WORKS_ON</a:t>
            </a:r>
            <a:r>
              <a:rPr lang="en-GB" b="0" dirty="0">
                <a:solidFill>
                  <a:schemeClr val="tx1"/>
                </a:solidFill>
              </a:rPr>
              <a:t> (</a:t>
            </a:r>
          </a:p>
          <a:p>
            <a:pPr marL="182563"/>
            <a:r>
              <a:rPr lang="en-GB" b="0" dirty="0" err="1">
                <a:solidFill>
                  <a:schemeClr val="tx1"/>
                </a:solidFill>
              </a:rPr>
              <a:t>enum</a:t>
            </a:r>
            <a:r>
              <a:rPr lang="en-GB" b="0" dirty="0">
                <a:solidFill>
                  <a:schemeClr val="tx1"/>
                </a:solidFill>
              </a:rPr>
              <a:t>  </a:t>
            </a:r>
            <a:r>
              <a:rPr lang="en-GB" b="0" dirty="0" err="1">
                <a:solidFill>
                  <a:schemeClr val="tx1"/>
                </a:solidFill>
              </a:rPr>
              <a:t>int</a:t>
            </a:r>
            <a:r>
              <a:rPr lang="en-GB" b="0" dirty="0">
                <a:solidFill>
                  <a:schemeClr val="tx1"/>
                </a:solidFill>
              </a:rPr>
              <a:t>  </a:t>
            </a:r>
            <a:r>
              <a:rPr lang="en-GB" dirty="0"/>
              <a:t>not null</a:t>
            </a:r>
            <a:r>
              <a:rPr lang="en-GB" b="0" dirty="0">
                <a:solidFill>
                  <a:schemeClr val="tx1"/>
                </a:solidFill>
              </a:rPr>
              <a:t>,</a:t>
            </a:r>
          </a:p>
          <a:p>
            <a:pPr marL="182563"/>
            <a:r>
              <a:rPr lang="en-GB" b="0" dirty="0" err="1">
                <a:solidFill>
                  <a:schemeClr val="tx1"/>
                </a:solidFill>
              </a:rPr>
              <a:t>pnum</a:t>
            </a:r>
            <a:r>
              <a:rPr lang="en-GB" b="0" dirty="0">
                <a:solidFill>
                  <a:schemeClr val="tx1"/>
                </a:solidFill>
              </a:rPr>
              <a:t> </a:t>
            </a:r>
            <a:r>
              <a:rPr lang="en-GB" b="0" dirty="0" err="1">
                <a:solidFill>
                  <a:schemeClr val="tx1"/>
                </a:solidFill>
              </a:rPr>
              <a:t>smallint</a:t>
            </a:r>
            <a:r>
              <a:rPr lang="en-GB" b="0" dirty="0">
                <a:solidFill>
                  <a:schemeClr val="tx1"/>
                </a:solidFill>
              </a:rPr>
              <a:t> </a:t>
            </a:r>
            <a:r>
              <a:rPr lang="en-GB" dirty="0"/>
              <a:t>not null</a:t>
            </a:r>
            <a:r>
              <a:rPr lang="en-GB" b="0" dirty="0">
                <a:solidFill>
                  <a:schemeClr val="tx1"/>
                </a:solidFill>
              </a:rPr>
              <a:t>,</a:t>
            </a:r>
          </a:p>
          <a:p>
            <a:pPr marL="182563"/>
            <a:r>
              <a:rPr lang="en-GB" b="0" dirty="0">
                <a:solidFill>
                  <a:schemeClr val="tx1"/>
                </a:solidFill>
              </a:rPr>
              <a:t>role char(15),</a:t>
            </a:r>
          </a:p>
          <a:p>
            <a:pPr marL="182563"/>
            <a:r>
              <a:rPr lang="en-GB" dirty="0"/>
              <a:t>CONSTRAINT</a:t>
            </a:r>
            <a:r>
              <a:rPr lang="en-GB" b="0" dirty="0">
                <a:solidFill>
                  <a:schemeClr val="tx1"/>
                </a:solidFill>
              </a:rPr>
              <a:t>  </a:t>
            </a:r>
            <a:r>
              <a:rPr lang="en-GB" b="0" dirty="0" err="1">
                <a:solidFill>
                  <a:schemeClr val="tx1"/>
                </a:solidFill>
              </a:rPr>
              <a:t>pk_wo</a:t>
            </a:r>
            <a:r>
              <a:rPr lang="en-GB" b="0" dirty="0">
                <a:solidFill>
                  <a:schemeClr val="tx1"/>
                </a:solidFill>
              </a:rPr>
              <a:t> </a:t>
            </a:r>
            <a:r>
              <a:rPr lang="en-GB" dirty="0"/>
              <a:t>PRIMARY KEY </a:t>
            </a:r>
            <a:r>
              <a:rPr lang="en-GB" b="0" dirty="0">
                <a:solidFill>
                  <a:schemeClr val="tx1"/>
                </a:solidFill>
              </a:rPr>
              <a:t>(</a:t>
            </a:r>
            <a:r>
              <a:rPr lang="en-GB" b="0" dirty="0" err="1">
                <a:solidFill>
                  <a:schemeClr val="tx1"/>
                </a:solidFill>
              </a:rPr>
              <a:t>enum</a:t>
            </a:r>
            <a:r>
              <a:rPr lang="en-GB" b="0" dirty="0">
                <a:solidFill>
                  <a:schemeClr val="tx1"/>
                </a:solidFill>
              </a:rPr>
              <a:t>, </a:t>
            </a:r>
            <a:r>
              <a:rPr lang="en-GB" b="0" dirty="0" err="1">
                <a:solidFill>
                  <a:schemeClr val="tx1"/>
                </a:solidFill>
              </a:rPr>
              <a:t>pnum</a:t>
            </a:r>
            <a:r>
              <a:rPr lang="en-GB" b="0" dirty="0">
                <a:solidFill>
                  <a:schemeClr val="tx1"/>
                </a:solidFill>
              </a:rPr>
              <a:t>) </a:t>
            </a:r>
          </a:p>
          <a:p>
            <a:r>
              <a:rPr lang="en-GB" b="0" dirty="0">
                <a:solidFill>
                  <a:schemeClr val="tx1"/>
                </a:solidFill>
              </a:rPr>
              <a:t>);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575721" y="2244494"/>
            <a:ext cx="3199279" cy="1810678"/>
            <a:chOff x="1183273" y="-395159"/>
            <a:chExt cx="3571151" cy="1991746"/>
          </a:xfrm>
        </p:grpSpPr>
        <p:sp>
          <p:nvSpPr>
            <p:cNvPr id="15" name="Rectangle 14"/>
            <p:cNvSpPr/>
            <p:nvPr/>
          </p:nvSpPr>
          <p:spPr>
            <a:xfrm>
              <a:off x="1183273" y="547069"/>
              <a:ext cx="3571151" cy="10495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7030A0"/>
                  </a:solidFill>
                </a:rPr>
                <a:t>We will use an ALTER TABLE statement to make </a:t>
              </a:r>
              <a:r>
                <a:rPr lang="en-US" altLang="en-US" sz="1400" dirty="0" err="1">
                  <a:solidFill>
                    <a:srgbClr val="7030A0"/>
                  </a:solidFill>
                </a:rPr>
                <a:t>enum</a:t>
              </a:r>
              <a:r>
                <a:rPr lang="en-US" altLang="en-US" sz="1400" dirty="0">
                  <a:solidFill>
                    <a:srgbClr val="7030A0"/>
                  </a:solidFill>
                </a:rPr>
                <a:t> and </a:t>
              </a:r>
              <a:r>
                <a:rPr lang="en-US" altLang="en-US" sz="1400" dirty="0" err="1">
                  <a:solidFill>
                    <a:srgbClr val="7030A0"/>
                  </a:solidFill>
                </a:rPr>
                <a:t>pnum</a:t>
              </a:r>
              <a:r>
                <a:rPr lang="en-US" altLang="en-US" sz="1400" dirty="0">
                  <a:solidFill>
                    <a:srgbClr val="7030A0"/>
                  </a:solidFill>
                </a:rPr>
                <a:t> </a:t>
              </a:r>
              <a:r>
                <a:rPr lang="en-US" altLang="en-US" sz="1400" b="1" dirty="0" err="1">
                  <a:solidFill>
                    <a:srgbClr val="C00000"/>
                  </a:solidFill>
                </a:rPr>
                <a:t>FKs</a:t>
              </a:r>
              <a:endParaRPr lang="en-US" altLang="en-US" sz="14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Data Types must be the same as </a:t>
              </a:r>
              <a:r>
                <a:rPr lang="en-US" altLang="en-US" sz="1400" i="1" dirty="0" err="1">
                  <a:solidFill>
                    <a:srgbClr val="7030A0"/>
                  </a:solidFill>
                </a:rPr>
                <a:t>PKs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in corresponding tables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 flipV="1">
              <a:off x="1919599" y="-395159"/>
              <a:ext cx="1450403" cy="942229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721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6" grpId="0" build="p"/>
      <p:bldP spid="8" grpId="0"/>
      <p:bldP spid="12" grpId="0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904172" y="216183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2239" y="694341"/>
            <a:ext cx="999665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C00000"/>
                </a:solidFill>
              </a:rPr>
              <a:t>Mark 2 Joins </a:t>
            </a:r>
            <a:r>
              <a:rPr lang="en-US" dirty="0"/>
              <a:t>- Alternative method for SQL joins</a:t>
            </a:r>
          </a:p>
          <a:p>
            <a:pPr marL="446088" lvl="1" indent="-268288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all relations participating in the join are listed in the FROM clause</a:t>
            </a:r>
          </a:p>
          <a:p>
            <a:pPr marL="446088" lvl="1" indent="-268288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Use of </a:t>
            </a:r>
            <a:r>
              <a:rPr lang="en-US" b="1" dirty="0">
                <a:solidFill>
                  <a:srgbClr val="C00000"/>
                </a:solidFill>
              </a:rPr>
              <a:t>INNER JOIN/ EQUI JOIN </a:t>
            </a:r>
            <a:r>
              <a:rPr lang="en-US" dirty="0"/>
              <a:t>as the join operator</a:t>
            </a:r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e.g.	</a:t>
            </a:r>
            <a:r>
              <a:rPr lang="en-US" b="1" i="1" dirty="0"/>
              <a:t>Get the names of employees and the roles they have performed for employees on the 1st floor.</a:t>
            </a:r>
          </a:p>
          <a:p>
            <a:r>
              <a:rPr lang="en-US" b="1" dirty="0">
                <a:solidFill>
                  <a:srgbClr val="0070C0"/>
                </a:solidFill>
              </a:rPr>
              <a:t>Mark 1</a:t>
            </a:r>
          </a:p>
          <a:p>
            <a:pPr marL="177800"/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/>
            <a:r>
              <a:rPr lang="en-US" sz="1600" dirty="0"/>
              <a:t>FROM EMPLOYEE, WORKS_ON</a:t>
            </a:r>
          </a:p>
          <a:p>
            <a:pPr marL="177800"/>
            <a:r>
              <a:rPr lang="en-US" sz="1600" dirty="0"/>
              <a:t>WHERE </a:t>
            </a:r>
            <a:r>
              <a:rPr lang="en-US" sz="1600" dirty="0" err="1"/>
              <a:t>EMPLOYEE.enum</a:t>
            </a:r>
            <a:r>
              <a:rPr lang="en-US" sz="1600" dirty="0"/>
              <a:t> = </a:t>
            </a:r>
            <a:r>
              <a:rPr lang="en-US" sz="1600" dirty="0" err="1"/>
              <a:t>WORKS_ON.enum</a:t>
            </a:r>
            <a:endParaRPr lang="en-US" sz="1600" dirty="0"/>
          </a:p>
          <a:p>
            <a:pPr marL="177800">
              <a:spcAft>
                <a:spcPts val="600"/>
              </a:spcAft>
            </a:pPr>
            <a:r>
              <a:rPr lang="en-US" sz="1600" dirty="0"/>
              <a:t>AND floor = 1;</a:t>
            </a:r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endParaRPr lang="en-US" sz="1600" dirty="0"/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endParaRPr lang="en-US" sz="1600" dirty="0"/>
          </a:p>
        </p:txBody>
      </p:sp>
      <p:grpSp>
        <p:nvGrpSpPr>
          <p:cNvPr id="4" name="Group 3"/>
          <p:cNvGrpSpPr/>
          <p:nvPr/>
        </p:nvGrpSpPr>
        <p:grpSpPr>
          <a:xfrm>
            <a:off x="7076209" y="906075"/>
            <a:ext cx="4404674" cy="738664"/>
            <a:chOff x="5142368" y="4568862"/>
            <a:chExt cx="7838255" cy="738664"/>
          </a:xfrm>
        </p:grpSpPr>
        <p:sp>
          <p:nvSpPr>
            <p:cNvPr id="5" name="Rectangle 4"/>
            <p:cNvSpPr/>
            <p:nvPr/>
          </p:nvSpPr>
          <p:spPr>
            <a:xfrm>
              <a:off x="9331330" y="4568862"/>
              <a:ext cx="364929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There are a number of different </a:t>
              </a:r>
              <a:r>
                <a:rPr lang="en-US" altLang="en-US" sz="1400" b="1" i="1" dirty="0">
                  <a:solidFill>
                    <a:srgbClr val="7030A0"/>
                  </a:solidFill>
                </a:rPr>
                <a:t>JOIN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operators – see later</a:t>
              </a:r>
            </a:p>
          </p:txBody>
        </p:sp>
        <p:cxnSp>
          <p:nvCxnSpPr>
            <p:cNvPr id="6" name="Straight Arrow Connector 5"/>
            <p:cNvCxnSpPr>
              <a:cxnSpLocks/>
              <a:stCxn id="5" idx="1"/>
            </p:cNvCxnSpPr>
            <p:nvPr/>
          </p:nvCxnSpPr>
          <p:spPr>
            <a:xfrm flipH="1">
              <a:off x="5142368" y="4938194"/>
              <a:ext cx="4188961" cy="334829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872239" y="3515521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2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EMPLOYEE.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3F89C-827C-174D-A3EC-4A575B7EFFE5}"/>
              </a:ext>
            </a:extLst>
          </p:cNvPr>
          <p:cNvSpPr/>
          <p:nvPr/>
        </p:nvSpPr>
        <p:spPr>
          <a:xfrm>
            <a:off x="872239" y="4869738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3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USING(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)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961E4B-4CAB-AC46-B008-8873822B5735}"/>
              </a:ext>
            </a:extLst>
          </p:cNvPr>
          <p:cNvSpPr/>
          <p:nvPr/>
        </p:nvSpPr>
        <p:spPr>
          <a:xfrm>
            <a:off x="6456041" y="2603599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4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EMPLOYEE.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2326A-5952-5C46-9951-E7501679F320}"/>
              </a:ext>
            </a:extLst>
          </p:cNvPr>
          <p:cNvSpPr/>
          <p:nvPr/>
        </p:nvSpPr>
        <p:spPr>
          <a:xfrm>
            <a:off x="6456041" y="4054477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5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e.ename</a:t>
            </a:r>
            <a:r>
              <a:rPr lang="en-US" sz="1600" dirty="0"/>
              <a:t>, </a:t>
            </a:r>
            <a:r>
              <a:rPr lang="en-US" sz="1600" dirty="0" err="1"/>
              <a:t>w.role</a:t>
            </a:r>
            <a:endParaRPr lang="en-US" sz="1600" dirty="0"/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 e</a:t>
            </a:r>
            <a:r>
              <a:rPr lang="en-US" sz="1600" dirty="0"/>
              <a:t>, </a:t>
            </a:r>
            <a:r>
              <a:rPr lang="en-US" sz="1600" b="1" dirty="0">
                <a:solidFill>
                  <a:srgbClr val="0070C0"/>
                </a:solidFill>
              </a:rPr>
              <a:t>WORKS_ON w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WHERE </a:t>
            </a:r>
            <a:r>
              <a:rPr lang="en-US" sz="1600" b="1" dirty="0" err="1"/>
              <a:t>e</a:t>
            </a:r>
            <a:r>
              <a:rPr lang="en-US" sz="1600" dirty="0" err="1"/>
              <a:t>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AND floor = 1;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CCCAAB-12F0-D646-A667-4CCA3933F029}"/>
              </a:ext>
            </a:extLst>
          </p:cNvPr>
          <p:cNvSpPr/>
          <p:nvPr/>
        </p:nvSpPr>
        <p:spPr>
          <a:xfrm>
            <a:off x="9139101" y="5136872"/>
            <a:ext cx="23417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1400" i="1" dirty="0">
                <a:solidFill>
                  <a:srgbClr val="7030A0"/>
                </a:solidFill>
              </a:rPr>
              <a:t>	Use of aliases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4D242C-2493-714F-ABE1-4EFED07F73EB}"/>
              </a:ext>
            </a:extLst>
          </p:cNvPr>
          <p:cNvCxnSpPr>
            <a:cxnSpLocks/>
          </p:cNvCxnSpPr>
          <p:nvPr/>
        </p:nvCxnSpPr>
        <p:spPr>
          <a:xfrm flipH="1">
            <a:off x="9139101" y="5033663"/>
            <a:ext cx="1584175" cy="0"/>
          </a:xfrm>
          <a:prstGeom prst="straightConnector1">
            <a:avLst/>
          </a:prstGeom>
          <a:ln>
            <a:solidFill>
              <a:srgbClr val="7030A0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93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build="p"/>
      <p:bldP spid="12" grpId="0" build="p"/>
      <p:bldP spid="14" grpId="0" build="p"/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489654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1503" y="689110"/>
            <a:ext cx="1007905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24113" indent="-2424113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Natural Language </a:t>
            </a:r>
            <a:r>
              <a:rPr lang="en-US" dirty="0"/>
              <a:t>Query:	</a:t>
            </a:r>
            <a:r>
              <a:rPr lang="en-US" b="1" i="1" dirty="0"/>
              <a:t>Get the </a:t>
            </a:r>
            <a:r>
              <a:rPr lang="en-US" b="1" i="1" dirty="0">
                <a:solidFill>
                  <a:srgbClr val="0070C0"/>
                </a:solidFill>
              </a:rPr>
              <a:t>names</a:t>
            </a:r>
            <a:r>
              <a:rPr lang="en-US" b="1" i="1" dirty="0"/>
              <a:t> and </a:t>
            </a:r>
            <a:r>
              <a:rPr lang="en-US" b="1" i="1" dirty="0">
                <a:solidFill>
                  <a:srgbClr val="0070C0"/>
                </a:solidFill>
              </a:rPr>
              <a:t>salaries</a:t>
            </a:r>
            <a:r>
              <a:rPr lang="en-US" b="1" i="1" dirty="0"/>
              <a:t> of employees who work on projects </a:t>
            </a:r>
            <a:r>
              <a:rPr lang="en-US" b="1" i="1" dirty="0">
                <a:solidFill>
                  <a:srgbClr val="0070C0"/>
                </a:solidFill>
              </a:rPr>
              <a:t>led by </a:t>
            </a:r>
            <a:r>
              <a:rPr lang="en-US" b="1" i="1" dirty="0"/>
              <a:t>‘Gates’</a:t>
            </a:r>
            <a:r>
              <a:rPr lang="en-US" dirty="0"/>
              <a:t>		       </a:t>
            </a:r>
          </a:p>
          <a:p>
            <a:pPr marL="542925"/>
            <a:r>
              <a:rPr lang="en-US" dirty="0"/>
              <a:t>SELECT </a:t>
            </a:r>
            <a:r>
              <a:rPr lang="en-US" b="1" i="1" dirty="0" err="1">
                <a:solidFill>
                  <a:srgbClr val="0070C0"/>
                </a:solidFill>
              </a:rPr>
              <a:t>ename</a:t>
            </a:r>
            <a:r>
              <a:rPr lang="en-US" dirty="0"/>
              <a:t>, </a:t>
            </a:r>
            <a:r>
              <a:rPr lang="en-US" b="1" i="1" dirty="0">
                <a:solidFill>
                  <a:srgbClr val="0070C0"/>
                </a:solidFill>
              </a:rPr>
              <a:t>salary</a:t>
            </a:r>
          </a:p>
          <a:p>
            <a:pPr marL="542925"/>
            <a:r>
              <a:rPr lang="en-US" dirty="0"/>
              <a:t>FROM EMPLOYEE, WORKS_ON, PROJECT </a:t>
            </a:r>
          </a:p>
          <a:p>
            <a:pPr marL="542925"/>
            <a:r>
              <a:rPr lang="en-US" dirty="0"/>
              <a:t>WHERE </a:t>
            </a:r>
            <a:r>
              <a:rPr lang="en-US" dirty="0" err="1"/>
              <a:t>EMPLOYEE.</a:t>
            </a:r>
            <a:r>
              <a:rPr lang="en-US" b="1" i="1" dirty="0" err="1">
                <a:solidFill>
                  <a:srgbClr val="7030A0"/>
                </a:solidFill>
              </a:rPr>
              <a:t>enum</a:t>
            </a:r>
            <a:r>
              <a:rPr lang="en-US" dirty="0"/>
              <a:t> = </a:t>
            </a:r>
            <a:r>
              <a:rPr lang="en-US" dirty="0" err="1"/>
              <a:t>WORKS_ON.</a:t>
            </a:r>
            <a:r>
              <a:rPr lang="en-US" b="1" i="1" dirty="0" err="1">
                <a:solidFill>
                  <a:srgbClr val="7030A0"/>
                </a:solidFill>
              </a:rPr>
              <a:t>enum</a:t>
            </a:r>
            <a:r>
              <a:rPr lang="en-US" dirty="0"/>
              <a:t> </a:t>
            </a:r>
          </a:p>
          <a:p>
            <a:pPr marL="542925"/>
            <a:r>
              <a:rPr lang="en-US" dirty="0"/>
              <a:t>AND </a:t>
            </a:r>
            <a:r>
              <a:rPr lang="en-US" dirty="0" err="1"/>
              <a:t>WORKS_ON.</a:t>
            </a:r>
            <a:r>
              <a:rPr lang="en-US" b="1" i="1" dirty="0" err="1">
                <a:solidFill>
                  <a:srgbClr val="7030A0"/>
                </a:solidFill>
              </a:rPr>
              <a:t>pnum</a:t>
            </a:r>
            <a:r>
              <a:rPr lang="en-US" dirty="0"/>
              <a:t> = </a:t>
            </a:r>
            <a:r>
              <a:rPr lang="en-US" dirty="0" err="1"/>
              <a:t>PROJECT.</a:t>
            </a:r>
            <a:r>
              <a:rPr lang="en-US" b="1" i="1" dirty="0" err="1">
                <a:solidFill>
                  <a:srgbClr val="7030A0"/>
                </a:solidFill>
              </a:rPr>
              <a:t>pnum</a:t>
            </a:r>
            <a:endParaRPr lang="en-US" b="1" i="1" dirty="0">
              <a:solidFill>
                <a:srgbClr val="7030A0"/>
              </a:solidFill>
            </a:endParaRPr>
          </a:p>
          <a:p>
            <a:pPr marL="542925"/>
            <a:r>
              <a:rPr lang="en-US" dirty="0"/>
              <a:t>AND leader = </a:t>
            </a:r>
            <a:r>
              <a:rPr lang="en-US" b="1" i="1" dirty="0">
                <a:solidFill>
                  <a:srgbClr val="C00000"/>
                </a:solidFill>
              </a:rPr>
              <a:t>‘Gates'</a:t>
            </a:r>
            <a:r>
              <a:rPr lang="en-US" dirty="0"/>
              <a:t>;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6528049" y="1196200"/>
            <a:ext cx="3778897" cy="523772"/>
            <a:chOff x="4166897" y="4959739"/>
            <a:chExt cx="6724665" cy="523772"/>
          </a:xfrm>
        </p:grpSpPr>
        <p:sp>
          <p:nvSpPr>
            <p:cNvPr id="5" name="Rectangle 4"/>
            <p:cNvSpPr/>
            <p:nvPr/>
          </p:nvSpPr>
          <p:spPr>
            <a:xfrm>
              <a:off x="7242268" y="4960291"/>
              <a:ext cx="364929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Requires attributes from all </a:t>
              </a:r>
              <a:r>
                <a:rPr lang="en-US" altLang="en-US" sz="1400" b="1" i="1" dirty="0">
                  <a:solidFill>
                    <a:srgbClr val="C00000"/>
                  </a:solidFill>
                </a:rPr>
                <a:t>three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tables</a:t>
              </a:r>
            </a:p>
          </p:txBody>
        </p:sp>
        <p:cxnSp>
          <p:nvCxnSpPr>
            <p:cNvPr id="6" name="Straight Arrow Connector 5"/>
            <p:cNvCxnSpPr>
              <a:stCxn id="5" idx="1"/>
            </p:cNvCxnSpPr>
            <p:nvPr/>
          </p:nvCxnSpPr>
          <p:spPr>
            <a:xfrm flipH="1" flipV="1">
              <a:off x="4166897" y="4959739"/>
              <a:ext cx="3075372" cy="262162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24192" y="3113362"/>
          <a:ext cx="2664296" cy="31203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enum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pnum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role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852341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Manager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852341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Designer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852358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147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Consultant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852358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Consultant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852407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Assistant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852455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Assistant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852455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227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Manager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852491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Designer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852491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Manager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852514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Assistant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852514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Consultant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852514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251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Manager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852530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147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Manager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31756" y="5214073"/>
          <a:ext cx="2520280" cy="15601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pnum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pname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leader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121</a:t>
                      </a:r>
                      <a:endParaRPr lang="en-GB" sz="1400" b="1" i="1" u="none" strike="noStrike" dirty="0">
                        <a:solidFill>
                          <a:srgbClr val="7030A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IT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Gates</a:t>
                      </a:r>
                      <a:endParaRPr lang="en-GB" sz="1400" b="1" i="1" u="none" strike="noStrike" dirty="0">
                        <a:solidFill>
                          <a:srgbClr val="C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135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Design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Sinclair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147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Analysis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Einstein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216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Publicity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Saatchi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227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Theatre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Dench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251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Sport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Shearer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31757" y="3113362"/>
          <a:ext cx="2520280" cy="178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enum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ename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salary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floor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852341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Smith</a:t>
                      </a:r>
                      <a:endParaRPr lang="en-GB" sz="1400" b="1" i="1" u="none" strike="noStrike" dirty="0">
                        <a:solidFill>
                          <a:srgbClr val="0070C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852358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Jones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19000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852407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Brown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16000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852491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Adams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30500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852514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Doyle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852530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</a:rPr>
                        <a:t>Evans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26980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914271" y="2867542"/>
            <a:ext cx="12601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EMPLOYEE</a:t>
            </a:r>
            <a:endParaRPr lang="en-GB" sz="1400" dirty="0"/>
          </a:p>
        </p:txBody>
      </p:sp>
      <p:sp>
        <p:nvSpPr>
          <p:cNvPr id="14" name="Rectangle 13"/>
          <p:cNvSpPr/>
          <p:nvPr/>
        </p:nvSpPr>
        <p:spPr>
          <a:xfrm>
            <a:off x="7855736" y="2867542"/>
            <a:ext cx="13886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WORKS_ON</a:t>
            </a:r>
            <a:endParaRPr lang="en-GB" sz="1400" dirty="0"/>
          </a:p>
        </p:txBody>
      </p:sp>
      <p:sp>
        <p:nvSpPr>
          <p:cNvPr id="15" name="Rectangle 14"/>
          <p:cNvSpPr/>
          <p:nvPr/>
        </p:nvSpPr>
        <p:spPr>
          <a:xfrm>
            <a:off x="1842263" y="4975603"/>
            <a:ext cx="12601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PROJECT</a:t>
            </a:r>
            <a:endParaRPr lang="en-GB" sz="1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6672064" y="2013317"/>
            <a:ext cx="2520280" cy="523220"/>
            <a:chOff x="7298153" y="5168770"/>
            <a:chExt cx="4484916" cy="523220"/>
          </a:xfrm>
        </p:grpSpPr>
        <p:sp>
          <p:nvSpPr>
            <p:cNvPr id="17" name="Rectangle 16"/>
            <p:cNvSpPr/>
            <p:nvPr/>
          </p:nvSpPr>
          <p:spPr>
            <a:xfrm>
              <a:off x="9220260" y="5168770"/>
              <a:ext cx="256280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Mark 1 Join on</a:t>
              </a:r>
              <a:br>
                <a:rPr lang="en-US" altLang="en-US" sz="1400" i="1" dirty="0">
                  <a:solidFill>
                    <a:srgbClr val="7030A0"/>
                  </a:solidFill>
                </a:rPr>
              </a:br>
              <a:r>
                <a:rPr lang="en-US" altLang="en-US" sz="1400" b="1" i="1" dirty="0">
                  <a:solidFill>
                    <a:srgbClr val="C00000"/>
                  </a:solidFill>
                </a:rPr>
                <a:t>PK/FK match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</a:t>
              </a:r>
            </a:p>
          </p:txBody>
        </p:sp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7298153" y="5321798"/>
              <a:ext cx="1922107" cy="108582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5281475" y="3585160"/>
            <a:ext cx="1390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Result Table</a:t>
            </a:r>
            <a:endParaRPr lang="en-GB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281475" y="3882982"/>
          <a:ext cx="1656184" cy="1013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err="1">
                          <a:effectLst/>
                        </a:rPr>
                        <a:t>ename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salary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Smith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15000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White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25100</a:t>
                      </a:r>
                      <a:endParaRPr lang="en-GB" sz="16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Doyle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5793511"/>
                  </a:ext>
                </a:extLst>
              </a:tr>
            </a:tbl>
          </a:graphicData>
        </a:graphic>
      </p:graphicFrame>
      <p:sp>
        <p:nvSpPr>
          <p:cNvPr id="34" name="Freeform: Shape 33"/>
          <p:cNvSpPr/>
          <p:nvPr/>
        </p:nvSpPr>
        <p:spPr>
          <a:xfrm>
            <a:off x="3275798" y="2743892"/>
            <a:ext cx="2868328" cy="1144714"/>
          </a:xfrm>
          <a:custGeom>
            <a:avLst/>
            <a:gdLst>
              <a:gd name="connsiteX0" fmla="*/ 0 w 2868328"/>
              <a:gd name="connsiteY0" fmla="*/ 365068 h 1144714"/>
              <a:gd name="connsiteX1" fmla="*/ 1751798 w 2868328"/>
              <a:gd name="connsiteY1" fmla="*/ 37809 h 1144714"/>
              <a:gd name="connsiteX2" fmla="*/ 2868328 w 2868328"/>
              <a:gd name="connsiteY2" fmla="*/ 1144714 h 114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8328" h="1144714">
                <a:moveTo>
                  <a:pt x="0" y="365068"/>
                </a:moveTo>
                <a:cubicBezTo>
                  <a:pt x="636871" y="136468"/>
                  <a:pt x="1273743" y="-92132"/>
                  <a:pt x="1751798" y="37809"/>
                </a:cubicBezTo>
                <a:cubicBezTo>
                  <a:pt x="2229853" y="167750"/>
                  <a:pt x="2549090" y="656232"/>
                  <a:pt x="2868328" y="1144714"/>
                </a:cubicBezTo>
              </a:path>
            </a:pathLst>
          </a:custGeom>
          <a:noFill/>
          <a:ln w="19050">
            <a:solidFill>
              <a:srgbClr val="0070C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 35"/>
          <p:cNvGrpSpPr/>
          <p:nvPr/>
        </p:nvGrpSpPr>
        <p:grpSpPr>
          <a:xfrm>
            <a:off x="1864306" y="3334161"/>
            <a:ext cx="7505088" cy="3442402"/>
            <a:chOff x="340306" y="3334161"/>
            <a:chExt cx="7505088" cy="3442402"/>
          </a:xfrm>
        </p:grpSpPr>
        <p:sp>
          <p:nvSpPr>
            <p:cNvPr id="24" name="Rectangle: Rounded Corners 23"/>
            <p:cNvSpPr/>
            <p:nvPr/>
          </p:nvSpPr>
          <p:spPr>
            <a:xfrm>
              <a:off x="340306" y="5435352"/>
              <a:ext cx="766743" cy="227894"/>
            </a:xfrm>
            <a:prstGeom prst="roundRect">
              <a:avLst>
                <a:gd name="adj" fmla="val 46199"/>
              </a:avLst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: Rounded Corners 24"/>
            <p:cNvSpPr/>
            <p:nvPr/>
          </p:nvSpPr>
          <p:spPr>
            <a:xfrm>
              <a:off x="7211722" y="5342671"/>
              <a:ext cx="633672" cy="227894"/>
            </a:xfrm>
            <a:prstGeom prst="roundRect">
              <a:avLst>
                <a:gd name="adj" fmla="val 46199"/>
              </a:avLst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7211722" y="4460509"/>
              <a:ext cx="633672" cy="227894"/>
            </a:xfrm>
            <a:prstGeom prst="roundRect">
              <a:avLst>
                <a:gd name="adj" fmla="val 46199"/>
              </a:avLst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: Rounded Corners 26"/>
            <p:cNvSpPr/>
            <p:nvPr/>
          </p:nvSpPr>
          <p:spPr>
            <a:xfrm>
              <a:off x="7211722" y="3334161"/>
              <a:ext cx="633672" cy="227894"/>
            </a:xfrm>
            <a:prstGeom prst="roundRect">
              <a:avLst>
                <a:gd name="adj" fmla="val 46199"/>
              </a:avLst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7308304" y="3562055"/>
              <a:ext cx="0" cy="898454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7308304" y="4688403"/>
              <a:ext cx="0" cy="654268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: Shape 31"/>
            <p:cNvSpPr/>
            <p:nvPr/>
          </p:nvSpPr>
          <p:spPr>
            <a:xfrm>
              <a:off x="987552" y="5570564"/>
              <a:ext cx="6320752" cy="1205999"/>
            </a:xfrm>
            <a:custGeom>
              <a:avLst/>
              <a:gdLst>
                <a:gd name="connsiteX0" fmla="*/ 0 w 6336792"/>
                <a:gd name="connsiteY0" fmla="*/ 109728 h 1226156"/>
                <a:gd name="connsiteX1" fmla="*/ 2011680 w 6336792"/>
                <a:gd name="connsiteY1" fmla="*/ 1143000 h 1226156"/>
                <a:gd name="connsiteX2" fmla="*/ 5367528 w 6336792"/>
                <a:gd name="connsiteY2" fmla="*/ 1033272 h 1226156"/>
                <a:gd name="connsiteX3" fmla="*/ 6336792 w 6336792"/>
                <a:gd name="connsiteY3" fmla="*/ 0 h 1226156"/>
                <a:gd name="connsiteX4" fmla="*/ 6336792 w 6336792"/>
                <a:gd name="connsiteY4" fmla="*/ 0 h 122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92" h="1226156">
                  <a:moveTo>
                    <a:pt x="0" y="109728"/>
                  </a:moveTo>
                  <a:cubicBezTo>
                    <a:pt x="558546" y="549402"/>
                    <a:pt x="1117092" y="989076"/>
                    <a:pt x="2011680" y="1143000"/>
                  </a:cubicBezTo>
                  <a:cubicBezTo>
                    <a:pt x="2906268" y="1296924"/>
                    <a:pt x="4646676" y="1223772"/>
                    <a:pt x="5367528" y="1033272"/>
                  </a:cubicBezTo>
                  <a:cubicBezTo>
                    <a:pt x="6088380" y="842772"/>
                    <a:pt x="6336792" y="0"/>
                    <a:pt x="6336792" y="0"/>
                  </a:cubicBezTo>
                  <a:lnTo>
                    <a:pt x="6336792" y="0"/>
                  </a:lnTo>
                </a:path>
              </a:pathLst>
            </a:custGeom>
            <a:noFill/>
            <a:ln w="19050">
              <a:solidFill>
                <a:srgbClr val="7030A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34473" y="5966791"/>
              <a:ext cx="27885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/>
                <a:t>WORKS_ON.</a:t>
              </a:r>
              <a:r>
                <a:rPr lang="en-US" sz="1400" b="1" i="1" dirty="0" err="1">
                  <a:solidFill>
                    <a:srgbClr val="7030A0"/>
                  </a:solidFill>
                </a:rPr>
                <a:t>pnum</a:t>
              </a:r>
              <a:r>
                <a:rPr lang="en-US" sz="1400" dirty="0"/>
                <a:t> = </a:t>
              </a:r>
              <a:r>
                <a:rPr lang="en-US" sz="1400" dirty="0" err="1"/>
                <a:t>PROJECT.</a:t>
              </a:r>
              <a:r>
                <a:rPr lang="en-US" sz="1400" b="1" i="1" dirty="0" err="1">
                  <a:solidFill>
                    <a:srgbClr val="7030A0"/>
                  </a:solidFill>
                </a:rPr>
                <a:t>pnum</a:t>
              </a:r>
              <a:endParaRPr lang="en-GB" sz="14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5D2636-DB29-7E4B-B2EA-5E852AE204B7}"/>
              </a:ext>
            </a:extLst>
          </p:cNvPr>
          <p:cNvSpPr txBox="1"/>
          <p:nvPr/>
        </p:nvSpPr>
        <p:spPr>
          <a:xfrm>
            <a:off x="6251926" y="382431"/>
            <a:ext cx="1371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Second example</a:t>
            </a:r>
          </a:p>
        </p:txBody>
      </p:sp>
    </p:spTree>
    <p:extLst>
      <p:ext uri="{BB962C8B-B14F-4D97-AF65-F5344CB8AC3E}">
        <p14:creationId xmlns:p14="http://schemas.microsoft.com/office/powerpoint/2010/main" val="325098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4" grpId="0"/>
      <p:bldP spid="15" grpId="0"/>
      <p:bldP spid="22" grpId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SQL – Multiple </a:t>
            </a:r>
            <a:r>
              <a:rPr lang="en-US" altLang="en-US" sz="3000" dirty="0">
                <a:solidFill>
                  <a:prstClr val="black"/>
                </a:solidFill>
              </a:rPr>
              <a:t>Table Queries</a:t>
            </a:r>
            <a:endParaRPr lang="en-US" altLang="en-US" sz="3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1504" y="758027"/>
            <a:ext cx="8856984" cy="801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e.g.	</a:t>
            </a:r>
            <a:r>
              <a:rPr lang="en-US" b="1" i="1" dirty="0"/>
              <a:t>Get the names and salaries of employees who work on projects led by ‘Gates’</a:t>
            </a:r>
            <a:r>
              <a:rPr lang="en-US" dirty="0"/>
              <a:t>	       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Mark 1</a:t>
            </a:r>
          </a:p>
          <a:p>
            <a:pPr marL="177800"/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salary</a:t>
            </a:r>
          </a:p>
          <a:p>
            <a:pPr marL="177800"/>
            <a:r>
              <a:rPr lang="en-US" sz="1600" dirty="0"/>
              <a:t>FROM EMPLOYEE, WORKS_ON, PROJECT </a:t>
            </a:r>
          </a:p>
          <a:p>
            <a:pPr marL="177800"/>
            <a:r>
              <a:rPr lang="en-US" sz="1600" dirty="0"/>
              <a:t>WHERE </a:t>
            </a:r>
            <a:r>
              <a:rPr lang="en-US" sz="1600" dirty="0" err="1"/>
              <a:t>EMPLOYEE.enum</a:t>
            </a:r>
            <a:r>
              <a:rPr lang="en-US" sz="1600" dirty="0"/>
              <a:t> = </a:t>
            </a:r>
            <a:r>
              <a:rPr lang="en-US" sz="1600" dirty="0" err="1"/>
              <a:t>WORKS_ON.enum</a:t>
            </a:r>
            <a:r>
              <a:rPr lang="en-US" sz="1600" dirty="0"/>
              <a:t> </a:t>
            </a:r>
          </a:p>
          <a:p>
            <a:pPr marL="177800"/>
            <a:r>
              <a:rPr lang="en-US" sz="1600" dirty="0"/>
              <a:t>AND </a:t>
            </a:r>
            <a:r>
              <a:rPr lang="en-US" sz="1600" dirty="0" err="1"/>
              <a:t>WORKS_ON.pnum</a:t>
            </a:r>
            <a:r>
              <a:rPr lang="en-US" sz="1600" dirty="0"/>
              <a:t> = </a:t>
            </a:r>
            <a:r>
              <a:rPr lang="en-US" sz="1600" dirty="0" err="1"/>
              <a:t>PROJECT.pnum</a:t>
            </a:r>
            <a:endParaRPr lang="en-US" sz="1600" dirty="0"/>
          </a:p>
          <a:p>
            <a:pPr marL="177800"/>
            <a:r>
              <a:rPr lang="en-US" sz="1600" dirty="0"/>
              <a:t>AND leader = ‘Gates’;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Mark 3</a:t>
            </a:r>
          </a:p>
          <a:p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salary</a:t>
            </a:r>
          </a:p>
          <a:p>
            <a:r>
              <a:rPr lang="en-US" sz="1600" dirty="0"/>
              <a:t>FROM </a:t>
            </a:r>
            <a:r>
              <a:rPr lang="en-US" sz="1600" b="1" dirty="0">
                <a:solidFill>
                  <a:schemeClr val="accent1"/>
                </a:solidFill>
              </a:rPr>
              <a:t>EMPLOYEE</a:t>
            </a:r>
            <a:r>
              <a:rPr lang="en-US" sz="1600" dirty="0"/>
              <a:t> 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INNER JOIN </a:t>
            </a:r>
            <a:r>
              <a:rPr lang="en-US" sz="1600" b="1" dirty="0">
                <a:solidFill>
                  <a:schemeClr val="accent1"/>
                </a:solidFill>
              </a:rPr>
              <a:t>WORKS_ON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USING</a:t>
            </a:r>
            <a:r>
              <a:rPr lang="en-US" sz="1600" dirty="0"/>
              <a:t>(</a:t>
            </a:r>
            <a:r>
              <a:rPr lang="en-US" sz="1600" dirty="0" err="1"/>
              <a:t>enum</a:t>
            </a:r>
            <a:r>
              <a:rPr lang="en-US" sz="1600" dirty="0"/>
              <a:t>)</a:t>
            </a:r>
            <a:endParaRPr lang="en-US" sz="1600" b="1" dirty="0">
              <a:solidFill>
                <a:srgbClr val="7030A0"/>
              </a:solidFill>
            </a:endParaRPr>
          </a:p>
          <a:p>
            <a:r>
              <a:rPr lang="en-US" sz="1600" b="1" dirty="0">
                <a:solidFill>
                  <a:schemeClr val="accent2"/>
                </a:solidFill>
              </a:rPr>
              <a:t>INNER JOIN </a:t>
            </a:r>
            <a:r>
              <a:rPr lang="en-US" sz="1600" b="1" dirty="0">
                <a:solidFill>
                  <a:schemeClr val="accent1"/>
                </a:solidFill>
              </a:rPr>
              <a:t>PROJECT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USING</a:t>
            </a:r>
            <a:r>
              <a:rPr lang="en-US" sz="1600" dirty="0"/>
              <a:t>(</a:t>
            </a:r>
            <a:r>
              <a:rPr lang="en-US" sz="1600" dirty="0" err="1"/>
              <a:t>pnum</a:t>
            </a:r>
            <a:r>
              <a:rPr lang="en-US" sz="1600" dirty="0"/>
              <a:t>)</a:t>
            </a:r>
            <a:endParaRPr lang="en-US" sz="1600" b="1" dirty="0">
              <a:solidFill>
                <a:srgbClr val="7030A0"/>
              </a:solidFill>
            </a:endParaRPr>
          </a:p>
          <a:p>
            <a:r>
              <a:rPr lang="en-US" sz="1600" dirty="0"/>
              <a:t>WHERE leader = 'Gates';</a:t>
            </a:r>
          </a:p>
          <a:p>
            <a:endParaRPr lang="en-US" sz="1600" dirty="0"/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Question: Use aliases to get the names and salaries of employees who work on project led by ‘Gates’.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pPr marL="177800"/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6240016" y="1312025"/>
            <a:ext cx="4608512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2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salary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EMPLOYEE.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PROJECT</a:t>
            </a:r>
            <a:endParaRPr lang="en-US" sz="1600" dirty="0"/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pnum</a:t>
            </a:r>
            <a:r>
              <a:rPr lang="en-US" sz="1600" dirty="0"/>
              <a:t> = </a:t>
            </a:r>
            <a:r>
              <a:rPr lang="en-US" sz="1600" dirty="0" err="1"/>
              <a:t>PROJECT.</a:t>
            </a:r>
            <a:r>
              <a:rPr lang="en-US" sz="1600" b="1" dirty="0" err="1">
                <a:solidFill>
                  <a:srgbClr val="7030A0"/>
                </a:solidFill>
              </a:rPr>
              <a:t>pnum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leader = ’Gates’;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6080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904172" y="216183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2239" y="694341"/>
            <a:ext cx="999665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C00000"/>
                </a:solidFill>
              </a:rPr>
              <a:t>Mark 2 Joins </a:t>
            </a:r>
            <a:r>
              <a:rPr lang="en-US" dirty="0"/>
              <a:t>- Alternative method for SQL joins</a:t>
            </a:r>
          </a:p>
          <a:p>
            <a:pPr marL="446088" lvl="1" indent="-268288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all relations participating in the join are listed in the FROM clause</a:t>
            </a:r>
          </a:p>
          <a:p>
            <a:pPr marL="446088" lvl="1" indent="-268288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Use of </a:t>
            </a:r>
            <a:r>
              <a:rPr lang="en-US" b="1" dirty="0">
                <a:solidFill>
                  <a:srgbClr val="C00000"/>
                </a:solidFill>
              </a:rPr>
              <a:t>INNER JOIN/ EQUI JOIN </a:t>
            </a:r>
            <a:r>
              <a:rPr lang="en-US" dirty="0"/>
              <a:t>as the join operator</a:t>
            </a:r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e.g.	</a:t>
            </a:r>
            <a:r>
              <a:rPr lang="en-US" b="1" i="1" dirty="0"/>
              <a:t>Get the names of employees and the roles they have performed for employees on the 1st floor.</a:t>
            </a:r>
          </a:p>
          <a:p>
            <a:r>
              <a:rPr lang="en-US" b="1" dirty="0">
                <a:solidFill>
                  <a:srgbClr val="0070C0"/>
                </a:solidFill>
              </a:rPr>
              <a:t>Mark 1</a:t>
            </a:r>
          </a:p>
          <a:p>
            <a:pPr marL="177800"/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/>
            <a:r>
              <a:rPr lang="en-US" sz="1600" dirty="0"/>
              <a:t>FROM EMPLOYEE, WORKS_ON</a:t>
            </a:r>
          </a:p>
          <a:p>
            <a:pPr marL="177800"/>
            <a:r>
              <a:rPr lang="en-US" sz="1600" dirty="0"/>
              <a:t>WHERE </a:t>
            </a:r>
            <a:r>
              <a:rPr lang="en-US" sz="1600" dirty="0" err="1"/>
              <a:t>EMPLOYEE.enum</a:t>
            </a:r>
            <a:r>
              <a:rPr lang="en-US" sz="1600" dirty="0"/>
              <a:t> = </a:t>
            </a:r>
            <a:r>
              <a:rPr lang="en-US" sz="1600" dirty="0" err="1"/>
              <a:t>WORKS_ON.enum</a:t>
            </a:r>
            <a:endParaRPr lang="en-US" sz="1600" dirty="0"/>
          </a:p>
          <a:p>
            <a:pPr marL="177800">
              <a:spcAft>
                <a:spcPts val="600"/>
              </a:spcAft>
            </a:pPr>
            <a:r>
              <a:rPr lang="en-US" sz="1600" dirty="0"/>
              <a:t>AND floor = 1;</a:t>
            </a:r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endParaRPr lang="en-US" sz="1600" dirty="0"/>
          </a:p>
          <a:p>
            <a:pPr marL="446088" lvl="1" indent="-446088">
              <a:spcBef>
                <a:spcPts val="1200"/>
              </a:spcBef>
              <a:spcAft>
                <a:spcPts val="600"/>
              </a:spcAft>
            </a:pPr>
            <a:endParaRPr lang="en-US" sz="1600" dirty="0"/>
          </a:p>
        </p:txBody>
      </p:sp>
      <p:grpSp>
        <p:nvGrpSpPr>
          <p:cNvPr id="4" name="Group 3"/>
          <p:cNvGrpSpPr/>
          <p:nvPr/>
        </p:nvGrpSpPr>
        <p:grpSpPr>
          <a:xfrm>
            <a:off x="7076209" y="906075"/>
            <a:ext cx="4404674" cy="738664"/>
            <a:chOff x="5142368" y="4568862"/>
            <a:chExt cx="7838255" cy="738664"/>
          </a:xfrm>
        </p:grpSpPr>
        <p:sp>
          <p:nvSpPr>
            <p:cNvPr id="5" name="Rectangle 4"/>
            <p:cNvSpPr/>
            <p:nvPr/>
          </p:nvSpPr>
          <p:spPr>
            <a:xfrm>
              <a:off x="9331330" y="4568862"/>
              <a:ext cx="3649293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There are a number of different </a:t>
              </a:r>
              <a:r>
                <a:rPr lang="en-US" altLang="en-US" sz="1400" b="1" i="1" dirty="0">
                  <a:solidFill>
                    <a:srgbClr val="7030A0"/>
                  </a:solidFill>
                </a:rPr>
                <a:t>JOIN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operators – see later</a:t>
              </a:r>
            </a:p>
          </p:txBody>
        </p:sp>
        <p:cxnSp>
          <p:nvCxnSpPr>
            <p:cNvPr id="6" name="Straight Arrow Connector 5"/>
            <p:cNvCxnSpPr>
              <a:cxnSpLocks/>
              <a:stCxn id="5" idx="1"/>
            </p:cNvCxnSpPr>
            <p:nvPr/>
          </p:nvCxnSpPr>
          <p:spPr>
            <a:xfrm flipH="1">
              <a:off x="5142368" y="4938194"/>
              <a:ext cx="4188961" cy="334829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872239" y="3515521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2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EMPLOYEE.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3F89C-827C-174D-A3EC-4A575B7EFFE5}"/>
              </a:ext>
            </a:extLst>
          </p:cNvPr>
          <p:cNvSpPr/>
          <p:nvPr/>
        </p:nvSpPr>
        <p:spPr>
          <a:xfrm>
            <a:off x="872239" y="4869738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3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INNER 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USING(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)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961E4B-4CAB-AC46-B008-8873822B5735}"/>
              </a:ext>
            </a:extLst>
          </p:cNvPr>
          <p:cNvSpPr/>
          <p:nvPr/>
        </p:nvSpPr>
        <p:spPr>
          <a:xfrm>
            <a:off x="6456041" y="2603599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4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ename</a:t>
            </a:r>
            <a:r>
              <a:rPr lang="en-US" sz="1600" dirty="0"/>
              <a:t>, role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JOIN </a:t>
            </a:r>
            <a:r>
              <a:rPr lang="en-US" sz="1600" b="1" dirty="0">
                <a:solidFill>
                  <a:srgbClr val="0070C0"/>
                </a:solidFill>
              </a:rPr>
              <a:t>WORKS_ON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EMPLOYEE.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WORKS_ON.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WHERE floor = 1;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2326A-5952-5C46-9951-E7501679F320}"/>
              </a:ext>
            </a:extLst>
          </p:cNvPr>
          <p:cNvSpPr/>
          <p:nvPr/>
        </p:nvSpPr>
        <p:spPr>
          <a:xfrm>
            <a:off x="6456041" y="4054477"/>
            <a:ext cx="460851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</a:pPr>
            <a:r>
              <a:rPr lang="en-US" b="1" dirty="0">
                <a:solidFill>
                  <a:srgbClr val="0070C0"/>
                </a:solidFill>
              </a:rPr>
              <a:t>Mark 5</a:t>
            </a:r>
          </a:p>
          <a:p>
            <a:pPr marL="177800">
              <a:spcBef>
                <a:spcPct val="0"/>
              </a:spcBef>
            </a:pPr>
            <a:r>
              <a:rPr lang="en-US" sz="1600" dirty="0"/>
              <a:t>SELECT </a:t>
            </a:r>
            <a:r>
              <a:rPr lang="en-US" sz="1600" dirty="0" err="1"/>
              <a:t>e.ename</a:t>
            </a:r>
            <a:r>
              <a:rPr lang="en-US" sz="1600" dirty="0"/>
              <a:t>, </a:t>
            </a:r>
            <a:r>
              <a:rPr lang="en-US" sz="1600" dirty="0" err="1"/>
              <a:t>w.role</a:t>
            </a:r>
            <a:endParaRPr lang="en-US" sz="1600" dirty="0"/>
          </a:p>
          <a:p>
            <a:pPr marL="177800">
              <a:spcBef>
                <a:spcPct val="0"/>
              </a:spcBef>
            </a:pPr>
            <a:r>
              <a:rPr lang="en-US" sz="1600" dirty="0"/>
              <a:t>FROM </a:t>
            </a:r>
            <a:r>
              <a:rPr lang="en-US" sz="1600" b="1" dirty="0">
                <a:solidFill>
                  <a:srgbClr val="0070C0"/>
                </a:solidFill>
              </a:rPr>
              <a:t>EMPLOYEE e</a:t>
            </a:r>
            <a:r>
              <a:rPr lang="en-US" sz="1600" dirty="0"/>
              <a:t>, </a:t>
            </a:r>
            <a:r>
              <a:rPr lang="en-US" sz="1600" b="1" dirty="0">
                <a:solidFill>
                  <a:srgbClr val="0070C0"/>
                </a:solidFill>
              </a:rPr>
              <a:t>WORKS_ON w</a:t>
            </a:r>
          </a:p>
          <a:p>
            <a:pPr marL="177800">
              <a:spcBef>
                <a:spcPct val="0"/>
              </a:spcBef>
            </a:pPr>
            <a:r>
              <a:rPr lang="en-US" sz="1600" b="1" dirty="0">
                <a:solidFill>
                  <a:srgbClr val="C00000"/>
                </a:solidFill>
              </a:rPr>
              <a:t>WHERE </a:t>
            </a:r>
            <a:r>
              <a:rPr lang="en-US" sz="1600" b="1" dirty="0" err="1"/>
              <a:t>e</a:t>
            </a:r>
            <a:r>
              <a:rPr lang="en-US" sz="1600" dirty="0" err="1"/>
              <a:t>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r>
              <a:rPr lang="en-US" sz="1600" dirty="0"/>
              <a:t> = </a:t>
            </a:r>
            <a:r>
              <a:rPr lang="en-US" sz="1600" dirty="0" err="1"/>
              <a:t>w.</a:t>
            </a:r>
            <a:r>
              <a:rPr lang="en-US" sz="1600" b="1" dirty="0" err="1">
                <a:solidFill>
                  <a:srgbClr val="7030A0"/>
                </a:solidFill>
              </a:rPr>
              <a:t>enum</a:t>
            </a:r>
            <a:endParaRPr lang="en-US" sz="1600" b="1" dirty="0">
              <a:solidFill>
                <a:srgbClr val="7030A0"/>
              </a:solidFill>
            </a:endParaRPr>
          </a:p>
          <a:p>
            <a:pPr marL="177800">
              <a:spcBef>
                <a:spcPct val="0"/>
              </a:spcBef>
            </a:pPr>
            <a:r>
              <a:rPr lang="en-US" sz="1600" dirty="0"/>
              <a:t>AND floor = 1;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CCCAAB-12F0-D646-A667-4CCA3933F029}"/>
              </a:ext>
            </a:extLst>
          </p:cNvPr>
          <p:cNvSpPr/>
          <p:nvPr/>
        </p:nvSpPr>
        <p:spPr>
          <a:xfrm>
            <a:off x="9139101" y="5136872"/>
            <a:ext cx="23417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1400" i="1" dirty="0">
                <a:solidFill>
                  <a:srgbClr val="7030A0"/>
                </a:solidFill>
              </a:rPr>
              <a:t>	Use of aliases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4D242C-2493-714F-ABE1-4EFED07F73EB}"/>
              </a:ext>
            </a:extLst>
          </p:cNvPr>
          <p:cNvCxnSpPr>
            <a:cxnSpLocks/>
          </p:cNvCxnSpPr>
          <p:nvPr/>
        </p:nvCxnSpPr>
        <p:spPr>
          <a:xfrm flipH="1">
            <a:off x="9139101" y="5033663"/>
            <a:ext cx="1584175" cy="0"/>
          </a:xfrm>
          <a:prstGeom prst="straightConnector1">
            <a:avLst/>
          </a:prstGeom>
          <a:ln>
            <a:solidFill>
              <a:srgbClr val="7030A0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88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build="p"/>
      <p:bldP spid="12" grpId="0" build="p"/>
      <p:bldP spid="14" grpId="0" build="p"/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Calibri"/>
              </a:rPr>
              <a:t>SQL – Multiple </a:t>
            </a:r>
            <a:r>
              <a:rPr lang="en-US" altLang="en-US" sz="3000" dirty="0">
                <a:solidFill>
                  <a:prstClr val="black"/>
                </a:solidFill>
              </a:rPr>
              <a:t>Table Queries</a:t>
            </a:r>
            <a:endParaRPr lang="en-US" altLang="en-US" sz="3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631504" y="758026"/>
            <a:ext cx="8856984" cy="3277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spcAft>
                <a:spcPts val="600"/>
              </a:spcAft>
              <a:buClrTx/>
              <a:buSzTx/>
              <a:buFontTx/>
              <a:buNone/>
              <a:tabLst/>
            </a:lvl1pPr>
            <a:lvl2pPr lvl="1">
              <a:spcAft>
                <a:spcPts val="600"/>
              </a:spcAft>
              <a:defRPr b="1">
                <a:solidFill>
                  <a:srgbClr val="0070C0"/>
                </a:solidFill>
              </a:defRPr>
            </a:lvl2pPr>
          </a:lstStyle>
          <a:p>
            <a:r>
              <a:rPr lang="en-US" b="1" dirty="0"/>
              <a:t>Nested Queries</a:t>
            </a:r>
          </a:p>
          <a:p>
            <a:pPr marL="179388">
              <a:spcAft>
                <a:spcPts val="0"/>
              </a:spcAft>
            </a:pPr>
            <a:r>
              <a:rPr lang="en-US" dirty="0"/>
              <a:t>Join queries can be formulated as a set of nested queries whenever:</a:t>
            </a:r>
          </a:p>
          <a:p>
            <a:pPr marL="631825" lvl="1" indent="-188913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C00000"/>
                </a:solidFill>
              </a:rPr>
              <a:t>SELECT</a:t>
            </a:r>
            <a:r>
              <a:rPr lang="en-US" b="0" dirty="0">
                <a:solidFill>
                  <a:schemeClr val="tx1"/>
                </a:solidFill>
              </a:rPr>
              <a:t> clause contains attributes from only </a:t>
            </a:r>
            <a:r>
              <a:rPr lang="en-US" dirty="0">
                <a:solidFill>
                  <a:srgbClr val="C00000"/>
                </a:solidFill>
              </a:rPr>
              <a:t>one</a:t>
            </a:r>
            <a:r>
              <a:rPr lang="en-US" b="0" dirty="0">
                <a:solidFill>
                  <a:schemeClr val="tx1"/>
                </a:solidFill>
              </a:rPr>
              <a:t> relation</a:t>
            </a:r>
          </a:p>
          <a:p>
            <a:pPr marL="631825" lvl="1" indent="-188913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extra information is required </a:t>
            </a:r>
            <a:r>
              <a:rPr lang="en-US" dirty="0"/>
              <a:t>for comparison </a:t>
            </a:r>
            <a:r>
              <a:rPr lang="en-US" b="0" dirty="0">
                <a:solidFill>
                  <a:schemeClr val="tx1"/>
                </a:solidFill>
              </a:rPr>
              <a:t>in the </a:t>
            </a:r>
            <a:r>
              <a:rPr lang="en-US" dirty="0">
                <a:solidFill>
                  <a:srgbClr val="C00000"/>
                </a:solidFill>
              </a:rPr>
              <a:t>WHERE</a:t>
            </a:r>
            <a:r>
              <a:rPr lang="en-US" b="0" dirty="0">
                <a:solidFill>
                  <a:schemeClr val="tx1"/>
                </a:solidFill>
              </a:rPr>
              <a:t> clause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	e.g. an aggregate function, or a list of attributes from another table</a:t>
            </a:r>
          </a:p>
          <a:p>
            <a:pPr marL="179388">
              <a:spcAft>
                <a:spcPts val="0"/>
              </a:spcAft>
            </a:pPr>
            <a:r>
              <a:rPr lang="en-US" dirty="0"/>
              <a:t>Links between the query blocks can be achieved: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using the </a:t>
            </a:r>
            <a:r>
              <a:rPr lang="en-US" dirty="0">
                <a:solidFill>
                  <a:srgbClr val="C00000"/>
                </a:solidFill>
              </a:rPr>
              <a:t>IN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r>
              <a:rPr lang="en-US" dirty="0"/>
              <a:t>predicate</a:t>
            </a:r>
            <a:r>
              <a:rPr lang="en-US" b="0" dirty="0">
                <a:solidFill>
                  <a:schemeClr val="tx1"/>
                </a:solidFill>
              </a:rPr>
              <a:t> if multiple values may be returned from the lower clause</a:t>
            </a:r>
          </a:p>
          <a:p>
            <a:pPr marL="631825" lvl="1" indent="-174625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using &gt;,&gt;=,&lt;,&lt;=,=,&lt;&gt; whenever only one value will be returned from the lower clause</a:t>
            </a:r>
          </a:p>
          <a:p>
            <a:pPr marL="179388" lvl="1">
              <a:spcBef>
                <a:spcPts val="2400"/>
              </a:spcBef>
              <a:spcAft>
                <a:spcPts val="0"/>
              </a:spcAft>
            </a:pPr>
            <a:r>
              <a:rPr lang="en-US" b="0" dirty="0">
                <a:solidFill>
                  <a:schemeClr val="tx1"/>
                </a:solidFill>
              </a:rPr>
              <a:t>e.g.  </a:t>
            </a:r>
            <a:r>
              <a:rPr lang="en-US" i="1" dirty="0">
                <a:solidFill>
                  <a:schemeClr val="tx1"/>
                </a:solidFill>
              </a:rPr>
              <a:t>Get the names of employees who have worked in the role of 'Consultant'.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1414" y="4035846"/>
            <a:ext cx="4680520" cy="14773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spcAft>
                <a:spcPts val="600"/>
              </a:spcAft>
              <a:buClrTx/>
              <a:buSzTx/>
              <a:buFontTx/>
              <a:buNone/>
              <a:tabLst/>
              <a:defRPr b="1"/>
            </a:lvl1pPr>
            <a:lvl2pPr marL="631825" lvl="1" indent="-188913">
              <a:spcAft>
                <a:spcPts val="600"/>
              </a:spcAft>
              <a:buFont typeface="Arial" panose="020B0604020202020204" pitchFamily="34" charset="0"/>
              <a:buChar char="•"/>
              <a:defRPr b="0"/>
            </a:lvl2pPr>
          </a:lstStyle>
          <a:p>
            <a:pPr>
              <a:spcAft>
                <a:spcPts val="0"/>
              </a:spcAft>
            </a:pPr>
            <a:r>
              <a:rPr lang="en-GB" dirty="0">
                <a:solidFill>
                  <a:srgbClr val="0070C0"/>
                </a:solidFill>
              </a:rPr>
              <a:t>As Mark 1 Join:</a:t>
            </a:r>
          </a:p>
          <a:p>
            <a:pPr marL="179388">
              <a:spcAft>
                <a:spcPts val="0"/>
              </a:spcAft>
            </a:pPr>
            <a:r>
              <a:rPr lang="en-GB" b="0" dirty="0"/>
              <a:t>SELECT </a:t>
            </a:r>
            <a:r>
              <a:rPr lang="en-GB" b="0" dirty="0" err="1"/>
              <a:t>ename</a:t>
            </a:r>
            <a:endParaRPr lang="en-GB" b="0" dirty="0"/>
          </a:p>
          <a:p>
            <a:pPr marL="179388">
              <a:spcAft>
                <a:spcPts val="0"/>
              </a:spcAft>
            </a:pPr>
            <a:r>
              <a:rPr lang="en-GB" b="0" dirty="0"/>
              <a:t>FROM EMPLOYEE, WORKS_ON</a:t>
            </a:r>
          </a:p>
          <a:p>
            <a:pPr marL="179388">
              <a:spcAft>
                <a:spcPts val="0"/>
              </a:spcAft>
            </a:pPr>
            <a:r>
              <a:rPr lang="en-GB" b="0" dirty="0"/>
              <a:t>WHERE </a:t>
            </a:r>
            <a:r>
              <a:rPr lang="en-GB" b="0" dirty="0" err="1"/>
              <a:t>EMPLOYEE.enum</a:t>
            </a:r>
            <a:r>
              <a:rPr lang="en-GB" b="0" dirty="0"/>
              <a:t> = </a:t>
            </a:r>
            <a:r>
              <a:rPr lang="en-GB" b="0" dirty="0" err="1"/>
              <a:t>WORKS_ON.enum</a:t>
            </a:r>
            <a:endParaRPr lang="en-GB" b="0" dirty="0"/>
          </a:p>
          <a:p>
            <a:pPr marL="179388">
              <a:spcAft>
                <a:spcPts val="0"/>
              </a:spcAft>
            </a:pPr>
            <a:r>
              <a:rPr lang="en-GB" b="0" dirty="0"/>
              <a:t>AND role = ‘Consultant’;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7959" y="4035847"/>
            <a:ext cx="3760901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spcAft>
                <a:spcPts val="0"/>
              </a:spcAft>
              <a:buClrTx/>
              <a:buSzTx/>
              <a:buFontTx/>
              <a:buNone/>
              <a:tabLst/>
              <a:defRPr b="0"/>
            </a:lvl1pPr>
            <a:lvl2pPr marL="631825" lvl="1" indent="-188913">
              <a:spcAft>
                <a:spcPts val="600"/>
              </a:spcAft>
              <a:buFont typeface="Arial" panose="020B0604020202020204" pitchFamily="34" charset="0"/>
              <a:buChar char="•"/>
              <a:defRPr b="0"/>
            </a:lvl2pPr>
          </a:lstStyle>
          <a:p>
            <a:r>
              <a:rPr lang="en-GB" b="1" dirty="0">
                <a:solidFill>
                  <a:srgbClr val="0070C0"/>
                </a:solidFill>
              </a:rPr>
              <a:t>As a Nested Query:</a:t>
            </a:r>
          </a:p>
          <a:p>
            <a:pPr marL="179388"/>
            <a:r>
              <a:rPr lang="en-GB" dirty="0"/>
              <a:t>SELECT </a:t>
            </a:r>
            <a:r>
              <a:rPr lang="en-GB" dirty="0" err="1"/>
              <a:t>ename</a:t>
            </a:r>
            <a:endParaRPr lang="en-GB" dirty="0"/>
          </a:p>
          <a:p>
            <a:pPr marL="179388"/>
            <a:r>
              <a:rPr lang="en-GB" dirty="0"/>
              <a:t>FROM EMPLOYEE</a:t>
            </a:r>
          </a:p>
          <a:p>
            <a:pPr marL="179388"/>
            <a:r>
              <a:rPr lang="en-GB" dirty="0"/>
              <a:t>WHERE </a:t>
            </a:r>
            <a:r>
              <a:rPr lang="en-GB" b="1" dirty="0" err="1">
                <a:solidFill>
                  <a:srgbClr val="7030A0"/>
                </a:solidFill>
              </a:rPr>
              <a:t>enum</a:t>
            </a:r>
            <a:r>
              <a:rPr lang="en-GB" dirty="0"/>
              <a:t> </a:t>
            </a:r>
            <a:r>
              <a:rPr lang="en-GB" b="1" dirty="0">
                <a:solidFill>
                  <a:srgbClr val="C00000"/>
                </a:solidFill>
              </a:rPr>
              <a:t>IN</a:t>
            </a:r>
          </a:p>
          <a:p>
            <a:r>
              <a:rPr lang="en-GB" dirty="0"/>
              <a:t>	</a:t>
            </a:r>
            <a:r>
              <a:rPr lang="en-GB" i="1" dirty="0"/>
              <a:t>(SELECT </a:t>
            </a:r>
            <a:r>
              <a:rPr lang="en-GB" b="1" i="1" dirty="0" err="1">
                <a:solidFill>
                  <a:srgbClr val="7030A0"/>
                </a:solidFill>
              </a:rPr>
              <a:t>enum</a:t>
            </a:r>
            <a:endParaRPr lang="en-GB" b="1" i="1" dirty="0">
              <a:solidFill>
                <a:srgbClr val="7030A0"/>
              </a:solidFill>
            </a:endParaRPr>
          </a:p>
          <a:p>
            <a:r>
              <a:rPr lang="en-GB" i="1" dirty="0"/>
              <a:t>	FROM WORKS_ON</a:t>
            </a:r>
          </a:p>
          <a:p>
            <a:r>
              <a:rPr lang="en-GB" i="1" dirty="0"/>
              <a:t>	WHERE role = ‘Consultant’)</a:t>
            </a:r>
            <a:r>
              <a:rPr lang="en-GB" dirty="0"/>
              <a:t>;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35760" y="5513174"/>
            <a:ext cx="3600400" cy="751982"/>
            <a:chOff x="6079749" y="4396480"/>
            <a:chExt cx="8106093" cy="785613"/>
          </a:xfrm>
        </p:grpSpPr>
        <p:sp>
          <p:nvSpPr>
            <p:cNvPr id="8" name="Rectangle 7"/>
            <p:cNvSpPr/>
            <p:nvPr/>
          </p:nvSpPr>
          <p:spPr>
            <a:xfrm>
              <a:off x="6079749" y="4410394"/>
              <a:ext cx="5297439" cy="771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The nested </a:t>
              </a:r>
              <a:r>
                <a:rPr lang="en-US" altLang="en-US" sz="1400" b="1" i="1" dirty="0">
                  <a:solidFill>
                    <a:srgbClr val="0070C0"/>
                  </a:solidFill>
                </a:rPr>
                <a:t>SELECT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clause returns a </a:t>
              </a:r>
              <a:r>
                <a:rPr lang="en-US" altLang="en-US" sz="1400" b="1" i="1" dirty="0">
                  <a:solidFill>
                    <a:srgbClr val="C00000"/>
                  </a:solidFill>
                </a:rPr>
                <a:t>list of </a:t>
              </a:r>
              <a:r>
                <a:rPr lang="en-US" altLang="en-US" sz="1400" b="1" i="1" dirty="0" err="1">
                  <a:solidFill>
                    <a:srgbClr val="C00000"/>
                  </a:solidFill>
                </a:rPr>
                <a:t>enum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of staff who are consultants</a:t>
              </a:r>
            </a:p>
          </p:txBody>
        </p:sp>
        <p:cxnSp>
          <p:nvCxnSpPr>
            <p:cNvPr id="9" name="Straight Arrow Connector 8"/>
            <p:cNvCxnSpPr>
              <a:stCxn id="8" idx="3"/>
            </p:cNvCxnSpPr>
            <p:nvPr/>
          </p:nvCxnSpPr>
          <p:spPr>
            <a:xfrm flipV="1">
              <a:off x="11377188" y="4396480"/>
              <a:ext cx="2808654" cy="399763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6059997" y="6080490"/>
            <a:ext cx="3801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So, WHERE clause is equivalent to:</a:t>
            </a:r>
          </a:p>
          <a:p>
            <a:pPr marL="263525"/>
            <a:r>
              <a:rPr lang="en-GB" b="1" dirty="0">
                <a:solidFill>
                  <a:srgbClr val="C00000"/>
                </a:solidFill>
              </a:rPr>
              <a:t>WHERE</a:t>
            </a:r>
            <a:r>
              <a:rPr lang="en-GB" dirty="0"/>
              <a:t> </a:t>
            </a:r>
            <a:r>
              <a:rPr lang="en-GB" b="1" dirty="0" err="1">
                <a:solidFill>
                  <a:srgbClr val="0070C0"/>
                </a:solidFill>
              </a:rPr>
              <a:t>enum</a:t>
            </a:r>
            <a:r>
              <a:rPr lang="en-GB" dirty="0"/>
              <a:t> </a:t>
            </a:r>
            <a:r>
              <a:rPr lang="en-GB" b="1" dirty="0">
                <a:solidFill>
                  <a:srgbClr val="C00000"/>
                </a:solidFill>
              </a:rPr>
              <a:t>IN</a:t>
            </a:r>
            <a:r>
              <a:rPr lang="en-GB" dirty="0"/>
              <a:t> (852358, 852514);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322223" y="5794772"/>
          <a:ext cx="936104" cy="1013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kern="1200" dirty="0" err="1">
                          <a:effectLst/>
                          <a:latin typeface="+mn-lt"/>
                        </a:rPr>
                        <a:t>ename</a:t>
                      </a:r>
                      <a:endParaRPr lang="en-GB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latin typeface="+mn-lt"/>
                        </a:rPr>
                        <a:t>Jones</a:t>
                      </a:r>
                      <a:endParaRPr lang="en-GB" sz="1600" b="0" i="0" u="none" strike="noStrike" dirty="0"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Jones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07026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Doyle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4299829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2382155" y="5481627"/>
            <a:ext cx="1390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Result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116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build="p"/>
      <p:bldP spid="6" grpId="0" build="p"/>
      <p:bldP spid="15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1504" y="758026"/>
            <a:ext cx="8856984" cy="625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2438" indent="-452438">
              <a:spcAft>
                <a:spcPts val="600"/>
              </a:spcAft>
            </a:pPr>
            <a:r>
              <a:rPr lang="en-US" dirty="0"/>
              <a:t>e.g.	</a:t>
            </a:r>
            <a:r>
              <a:rPr lang="en-US" b="1" i="1" dirty="0"/>
              <a:t>Get the employee names for employees earning salaries above the average salary for all employees</a:t>
            </a:r>
            <a:endParaRPr lang="en-US" dirty="0"/>
          </a:p>
          <a:p>
            <a:pPr marL="452438"/>
            <a:r>
              <a:rPr lang="en-US" dirty="0"/>
              <a:t>SELECT </a:t>
            </a:r>
            <a:r>
              <a:rPr lang="en-US" dirty="0" err="1"/>
              <a:t>ename</a:t>
            </a:r>
            <a:endParaRPr lang="en-US" dirty="0"/>
          </a:p>
          <a:p>
            <a:pPr marL="452438"/>
            <a:r>
              <a:rPr lang="en-US" dirty="0"/>
              <a:t>FROM EMPLOYEE</a:t>
            </a:r>
          </a:p>
          <a:p>
            <a:pPr marL="452438"/>
            <a:r>
              <a:rPr lang="en-US" dirty="0"/>
              <a:t>WHERE </a:t>
            </a:r>
            <a:r>
              <a:rPr lang="en-US" b="1" dirty="0">
                <a:solidFill>
                  <a:srgbClr val="7030A0"/>
                </a:solidFill>
              </a:rPr>
              <a:t>salary</a:t>
            </a:r>
            <a:r>
              <a:rPr lang="en-US" dirty="0"/>
              <a:t> &gt;</a:t>
            </a:r>
          </a:p>
          <a:p>
            <a:pPr marL="1166813"/>
            <a:r>
              <a:rPr lang="en-US" i="1" dirty="0"/>
              <a:t>(SELECT AVG (</a:t>
            </a:r>
            <a:r>
              <a:rPr lang="en-US" b="1" i="1" dirty="0">
                <a:solidFill>
                  <a:srgbClr val="7030A0"/>
                </a:solidFill>
              </a:rPr>
              <a:t>salary</a:t>
            </a:r>
            <a:r>
              <a:rPr lang="en-US" i="1" dirty="0"/>
              <a:t>)</a:t>
            </a:r>
          </a:p>
          <a:p>
            <a:pPr marL="1166813">
              <a:spcAft>
                <a:spcPts val="600"/>
              </a:spcAft>
            </a:pPr>
            <a:r>
              <a:rPr lang="en-US" i="1" dirty="0"/>
              <a:t>FROM EMPLOYEE)</a:t>
            </a:r>
            <a:r>
              <a:rPr lang="en-US" dirty="0"/>
              <a:t>;</a:t>
            </a:r>
          </a:p>
          <a:p>
            <a:pPr marL="452438" indent="-452438">
              <a:lnSpc>
                <a:spcPct val="90000"/>
              </a:lnSpc>
              <a:spcBef>
                <a:spcPts val="3000"/>
              </a:spcBef>
              <a:spcAft>
                <a:spcPts val="600"/>
              </a:spcAft>
            </a:pPr>
            <a:r>
              <a:rPr lang="en-US" dirty="0"/>
              <a:t>e.g.</a:t>
            </a:r>
            <a:r>
              <a:rPr lang="en-US" b="1" i="1" dirty="0"/>
              <a:t>	How many projects have less than 2 people working on them?</a:t>
            </a:r>
          </a:p>
          <a:p>
            <a:pPr marL="452438"/>
            <a:r>
              <a:rPr lang="en-US" dirty="0"/>
              <a:t>SELECT COUNT (</a:t>
            </a:r>
            <a:r>
              <a:rPr lang="en-US" dirty="0" err="1"/>
              <a:t>pnum</a:t>
            </a:r>
            <a:r>
              <a:rPr lang="en-US" dirty="0"/>
              <a:t>) AS </a:t>
            </a:r>
            <a:r>
              <a:rPr lang="en-US" dirty="0" err="1"/>
              <a:t>Num_Projects</a:t>
            </a:r>
            <a:endParaRPr lang="en-US" dirty="0"/>
          </a:p>
          <a:p>
            <a:pPr marL="452438"/>
            <a:r>
              <a:rPr lang="en-US" dirty="0"/>
              <a:t>FROM PROJECT</a:t>
            </a:r>
          </a:p>
          <a:p>
            <a:pPr marL="452438"/>
            <a:r>
              <a:rPr lang="en-US" dirty="0"/>
              <a:t>WHERE </a:t>
            </a:r>
            <a:r>
              <a:rPr lang="en-US" b="1" dirty="0" err="1">
                <a:solidFill>
                  <a:srgbClr val="7030A0"/>
                </a:solidFill>
              </a:rPr>
              <a:t>pnum</a:t>
            </a:r>
            <a:r>
              <a:rPr lang="en-US" dirty="0"/>
              <a:t> IN</a:t>
            </a:r>
          </a:p>
          <a:p>
            <a:pPr marL="1166813"/>
            <a:r>
              <a:rPr lang="en-US" dirty="0"/>
              <a:t>(SELECT </a:t>
            </a:r>
            <a:r>
              <a:rPr lang="en-US" b="1" dirty="0" err="1">
                <a:solidFill>
                  <a:srgbClr val="7030A0"/>
                </a:solidFill>
              </a:rPr>
              <a:t>pnum</a:t>
            </a:r>
            <a:endParaRPr lang="en-US" b="1" dirty="0">
              <a:solidFill>
                <a:srgbClr val="7030A0"/>
              </a:solidFill>
            </a:endParaRPr>
          </a:p>
          <a:p>
            <a:pPr marL="1166813"/>
            <a:r>
              <a:rPr lang="en-US" dirty="0"/>
              <a:t>FROM WORKS_ON	</a:t>
            </a:r>
          </a:p>
          <a:p>
            <a:pPr marL="1166813"/>
            <a:r>
              <a:rPr lang="en-US" dirty="0"/>
              <a:t>GROUP BY </a:t>
            </a:r>
            <a:r>
              <a:rPr lang="en-US" dirty="0" err="1"/>
              <a:t>pnum</a:t>
            </a:r>
            <a:endParaRPr lang="en-US" dirty="0"/>
          </a:p>
          <a:p>
            <a:pPr marL="1166813">
              <a:spcAft>
                <a:spcPts val="600"/>
              </a:spcAft>
            </a:pPr>
            <a:r>
              <a:rPr lang="en-US" dirty="0"/>
              <a:t>HAVING COUNT(</a:t>
            </a:r>
            <a:r>
              <a:rPr lang="en-US" dirty="0" err="1"/>
              <a:t>enum</a:t>
            </a:r>
            <a:r>
              <a:rPr lang="en-US" dirty="0"/>
              <a:t>) &lt; 2);</a:t>
            </a:r>
          </a:p>
          <a:p>
            <a:pPr>
              <a:spcAft>
                <a:spcPts val="600"/>
              </a:spcAft>
            </a:pPr>
            <a:r>
              <a:rPr lang="en-US" dirty="0"/>
              <a:t>The query is evaluated </a:t>
            </a:r>
            <a:r>
              <a:rPr lang="en-US" b="1" dirty="0">
                <a:solidFill>
                  <a:srgbClr val="0070C0"/>
                </a:solidFill>
              </a:rPr>
              <a:t>backwards</a:t>
            </a:r>
            <a:r>
              <a:rPr lang="en-US" dirty="0"/>
              <a:t> as:</a:t>
            </a:r>
          </a:p>
          <a:p>
            <a:pPr marL="1527175" indent="-1077913"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</a:rPr>
              <a:t>subquery:</a:t>
            </a:r>
            <a:r>
              <a:rPr lang="en-US" dirty="0"/>
              <a:t>	get the </a:t>
            </a:r>
            <a:r>
              <a:rPr lang="en-US" b="1" dirty="0" err="1">
                <a:solidFill>
                  <a:srgbClr val="7030A0"/>
                </a:solidFill>
              </a:rPr>
              <a:t>pnums</a:t>
            </a:r>
            <a:r>
              <a:rPr lang="en-US" dirty="0"/>
              <a:t> of those projects having less than 2 employees</a:t>
            </a:r>
            <a:br>
              <a:rPr lang="en-US" dirty="0"/>
            </a:br>
            <a:r>
              <a:rPr lang="en-US" dirty="0"/>
              <a:t>and pass them upwards into the top query</a:t>
            </a:r>
          </a:p>
          <a:p>
            <a:pPr marL="1527175" indent="-1077913"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</a:rPr>
              <a:t>top query:</a:t>
            </a:r>
            <a:r>
              <a:rPr lang="en-US" dirty="0"/>
              <a:t>	get the number of projects (</a:t>
            </a:r>
            <a:r>
              <a:rPr lang="en-US" dirty="0" err="1"/>
              <a:t>pnums</a:t>
            </a:r>
            <a:r>
              <a:rPr lang="en-US" dirty="0"/>
              <a:t>) passed into the </a:t>
            </a:r>
            <a:r>
              <a:rPr lang="en-US" b="1" dirty="0">
                <a:solidFill>
                  <a:srgbClr val="C00000"/>
                </a:solidFill>
              </a:rPr>
              <a:t>IN</a:t>
            </a:r>
            <a:r>
              <a:rPr lang="en-US" dirty="0"/>
              <a:t> list</a:t>
            </a:r>
            <a:endParaRPr lang="en-US" dirty="0">
              <a:latin typeface="Arial" charset="0"/>
            </a:endParaRPr>
          </a:p>
        </p:txBody>
      </p:sp>
      <p:sp>
        <p:nvSpPr>
          <p:cNvPr id="4" name="Right Arrow 4"/>
          <p:cNvSpPr/>
          <p:nvPr/>
        </p:nvSpPr>
        <p:spPr>
          <a:xfrm>
            <a:off x="5663951" y="1467552"/>
            <a:ext cx="1152128" cy="330249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06611" y="1479847"/>
          <a:ext cx="936104" cy="1013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kern="1200" dirty="0" err="1">
                          <a:effectLst/>
                          <a:latin typeface="+mn-lt"/>
                        </a:rPr>
                        <a:t>ename</a:t>
                      </a:r>
                      <a:endParaRPr lang="en-GB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latin typeface="+mn-lt"/>
                        </a:rPr>
                        <a:t>White</a:t>
                      </a:r>
                      <a:endParaRPr lang="en-GB" sz="1600" b="0" i="0" u="none" strike="noStrike" dirty="0"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Adams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07026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Evans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429982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66543" y="1166702"/>
            <a:ext cx="1390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Result Table</a:t>
            </a:r>
            <a:endParaRPr lang="en-GB" dirty="0"/>
          </a:p>
        </p:txBody>
      </p:sp>
      <p:grpSp>
        <p:nvGrpSpPr>
          <p:cNvPr id="9" name="Group 8"/>
          <p:cNvGrpSpPr/>
          <p:nvPr/>
        </p:nvGrpSpPr>
        <p:grpSpPr>
          <a:xfrm>
            <a:off x="5015881" y="1950192"/>
            <a:ext cx="3024337" cy="738664"/>
            <a:chOff x="3832485" y="4410394"/>
            <a:chExt cx="6809121" cy="771700"/>
          </a:xfrm>
        </p:grpSpPr>
        <p:sp>
          <p:nvSpPr>
            <p:cNvPr id="10" name="Rectangle 9"/>
            <p:cNvSpPr/>
            <p:nvPr/>
          </p:nvSpPr>
          <p:spPr>
            <a:xfrm>
              <a:off x="6079751" y="4410394"/>
              <a:ext cx="4561855" cy="7717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The nested </a:t>
              </a:r>
              <a:r>
                <a:rPr lang="en-US" altLang="en-US" sz="1400" b="1" i="1" dirty="0">
                  <a:solidFill>
                    <a:srgbClr val="0070C0"/>
                  </a:solidFill>
                </a:rPr>
                <a:t>SELECT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 clause returns a </a:t>
              </a:r>
              <a:r>
                <a:rPr lang="en-US" altLang="en-US" sz="1400" b="1" i="1" dirty="0">
                  <a:solidFill>
                    <a:srgbClr val="C00000"/>
                  </a:solidFill>
                </a:rPr>
                <a:t>single value </a:t>
              </a:r>
              <a:r>
                <a:rPr lang="en-US" altLang="en-US" sz="1400" dirty="0">
                  <a:solidFill>
                    <a:srgbClr val="7030A0"/>
                  </a:solidFill>
                </a:rPr>
                <a:t>–</a:t>
              </a:r>
              <a:r>
                <a:rPr lang="en-US" altLang="en-US" sz="1400" b="1" i="1" dirty="0">
                  <a:solidFill>
                    <a:srgbClr val="C00000"/>
                  </a:solidFill>
                </a:rPr>
                <a:t> </a:t>
              </a:r>
              <a:r>
                <a:rPr lang="en-US" altLang="en-US" sz="1400" i="1" dirty="0">
                  <a:solidFill>
                    <a:srgbClr val="7030A0"/>
                  </a:solidFill>
                </a:rPr>
                <a:t>average salary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3832485" y="4796244"/>
              <a:ext cx="2247264" cy="181555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871865" y="2687360"/>
            <a:ext cx="4172209" cy="523220"/>
            <a:chOff x="3347864" y="2687360"/>
            <a:chExt cx="4172209" cy="523220"/>
          </a:xfrm>
        </p:grpSpPr>
        <p:sp>
          <p:nvSpPr>
            <p:cNvPr id="6" name="Rectangle 5"/>
            <p:cNvSpPr/>
            <p:nvPr/>
          </p:nvSpPr>
          <p:spPr>
            <a:xfrm>
              <a:off x="4490024" y="2687360"/>
              <a:ext cx="303004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rgbClr val="0070C0"/>
                  </a:solidFill>
                </a:rPr>
                <a:t>RECALL:</a:t>
              </a:r>
              <a:r>
                <a:rPr lang="en-US" sz="1400" i="1" dirty="0">
                  <a:solidFill>
                    <a:srgbClr val="7030A0"/>
                  </a:solidFill>
                </a:rPr>
                <a:t> Aggregate functions can only appear in </a:t>
              </a:r>
              <a:r>
                <a:rPr lang="en-US" sz="1400" b="1" i="1" dirty="0">
                  <a:solidFill>
                    <a:srgbClr val="C00000"/>
                  </a:solidFill>
                </a:rPr>
                <a:t>SELECT</a:t>
              </a:r>
              <a:r>
                <a:rPr lang="en-US" sz="1400" i="1" dirty="0">
                  <a:solidFill>
                    <a:srgbClr val="7030A0"/>
                  </a:solidFill>
                </a:rPr>
                <a:t> or </a:t>
              </a:r>
              <a:r>
                <a:rPr lang="en-US" sz="1400" b="1" i="1" dirty="0">
                  <a:solidFill>
                    <a:srgbClr val="C00000"/>
                  </a:solidFill>
                </a:rPr>
                <a:t>HAVING</a:t>
              </a:r>
              <a:r>
                <a:rPr lang="en-US" sz="1400" i="1" dirty="0">
                  <a:solidFill>
                    <a:srgbClr val="7030A0"/>
                  </a:solidFill>
                </a:rPr>
                <a:t> clauses </a:t>
              </a:r>
              <a:endParaRPr lang="en-GB" sz="1400" i="1" dirty="0">
                <a:solidFill>
                  <a:srgbClr val="7030A0"/>
                </a:solidFill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 flipV="1">
              <a:off x="3347864" y="2687360"/>
              <a:ext cx="1188132" cy="261610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ight Arrow 4"/>
          <p:cNvSpPr/>
          <p:nvPr/>
        </p:nvSpPr>
        <p:spPr>
          <a:xfrm>
            <a:off x="5663951" y="4100141"/>
            <a:ext cx="1152128" cy="330249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006611" y="3817266"/>
          <a:ext cx="1337862" cy="5067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7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kern="1200" dirty="0" err="1">
                          <a:effectLst/>
                          <a:latin typeface="+mn-lt"/>
                        </a:rPr>
                        <a:t>Num_Projects</a:t>
                      </a:r>
                      <a:endParaRPr lang="en-GB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9066543" y="3504121"/>
            <a:ext cx="1390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Result Table</a:t>
            </a:r>
            <a:endParaRPr lang="en-GB" dirty="0"/>
          </a:p>
        </p:txBody>
      </p:sp>
      <p:grpSp>
        <p:nvGrpSpPr>
          <p:cNvPr id="26" name="Group 25"/>
          <p:cNvGrpSpPr/>
          <p:nvPr/>
        </p:nvGrpSpPr>
        <p:grpSpPr>
          <a:xfrm>
            <a:off x="5026479" y="3918857"/>
            <a:ext cx="4735172" cy="1694428"/>
            <a:chOff x="3502479" y="3918857"/>
            <a:chExt cx="4735172" cy="1694428"/>
          </a:xfrm>
        </p:grpSpPr>
        <p:sp>
          <p:nvSpPr>
            <p:cNvPr id="23" name="Rectangle 22"/>
            <p:cNvSpPr/>
            <p:nvPr/>
          </p:nvSpPr>
          <p:spPr>
            <a:xfrm>
              <a:off x="4979044" y="4874621"/>
              <a:ext cx="3258607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The </a:t>
              </a:r>
              <a:r>
                <a:rPr lang="en-GB" altLang="en-US" sz="1400" i="1" dirty="0" err="1">
                  <a:solidFill>
                    <a:srgbClr val="7030A0"/>
                  </a:solidFill>
                </a:rPr>
                <a:t>subclause</a:t>
              </a:r>
              <a:r>
                <a:rPr lang="en-GB" altLang="en-US" sz="1400" i="1" dirty="0">
                  <a:solidFill>
                    <a:srgbClr val="7030A0"/>
                  </a:solidFill>
                </a:rPr>
                <a:t> </a:t>
              </a:r>
              <a:r>
                <a:rPr lang="en-GB" altLang="en-US" sz="1400" b="1" i="1" dirty="0">
                  <a:solidFill>
                    <a:srgbClr val="C00000"/>
                  </a:solidFill>
                </a:rPr>
                <a:t>AS &lt;</a:t>
              </a:r>
              <a:r>
                <a:rPr lang="en-GB" altLang="en-US" sz="1400" b="1" i="1" dirty="0" err="1">
                  <a:solidFill>
                    <a:srgbClr val="C00000"/>
                  </a:solidFill>
                </a:rPr>
                <a:t>columnname</a:t>
              </a:r>
              <a:r>
                <a:rPr lang="en-GB" altLang="en-US" sz="1400" b="1" i="1" dirty="0">
                  <a:solidFill>
                    <a:srgbClr val="C00000"/>
                  </a:solidFill>
                </a:rPr>
                <a:t>&gt;</a:t>
              </a:r>
              <a:r>
                <a:rPr lang="en-GB" altLang="en-US" sz="1400" i="1" dirty="0">
                  <a:solidFill>
                    <a:srgbClr val="7030A0"/>
                  </a:solidFill>
                </a:rPr>
                <a:t>, where </a:t>
              </a:r>
              <a:r>
                <a:rPr lang="en-GB" altLang="en-US" sz="1400" i="1" dirty="0" err="1">
                  <a:solidFill>
                    <a:srgbClr val="7030A0"/>
                  </a:solidFill>
                </a:rPr>
                <a:t>columnname</a:t>
              </a:r>
              <a:r>
                <a:rPr lang="en-GB" altLang="en-US" sz="1400" i="1" dirty="0">
                  <a:solidFill>
                    <a:srgbClr val="7030A0"/>
                  </a:solidFill>
                </a:rPr>
                <a:t> contains </a:t>
              </a:r>
              <a:r>
                <a:rPr lang="en-GB" altLang="en-US" sz="1400" b="1" i="1" dirty="0">
                  <a:solidFill>
                    <a:srgbClr val="0070C0"/>
                  </a:solidFill>
                </a:rPr>
                <a:t>NO</a:t>
              </a:r>
              <a:r>
                <a:rPr lang="en-GB" altLang="en-US" sz="1400" i="1" dirty="0">
                  <a:solidFill>
                    <a:srgbClr val="7030A0"/>
                  </a:solidFill>
                </a:rPr>
                <a:t> spaces, is used to give the result table a meaningful name</a:t>
              </a:r>
              <a:endParaRPr lang="en-US" altLang="en-US" sz="1400" i="1" dirty="0">
                <a:solidFill>
                  <a:srgbClr val="7030A0"/>
                </a:solidFill>
              </a:endParaRPr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3502479" y="3918857"/>
              <a:ext cx="1461407" cy="1323714"/>
            </a:xfrm>
            <a:custGeom>
              <a:avLst/>
              <a:gdLst>
                <a:gd name="connsiteX0" fmla="*/ 1461407 w 1461407"/>
                <a:gd name="connsiteY0" fmla="*/ 1322614 h 1323714"/>
                <a:gd name="connsiteX1" fmla="*/ 473528 w 1461407"/>
                <a:gd name="connsiteY1" fmla="*/ 1110343 h 1323714"/>
                <a:gd name="connsiteX2" fmla="*/ 0 w 1461407"/>
                <a:gd name="connsiteY2" fmla="*/ 0 h 132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61407" h="1323714">
                  <a:moveTo>
                    <a:pt x="1461407" y="1322614"/>
                  </a:moveTo>
                  <a:cubicBezTo>
                    <a:pt x="1089251" y="1326696"/>
                    <a:pt x="717096" y="1330778"/>
                    <a:pt x="473528" y="1110343"/>
                  </a:cubicBezTo>
                  <a:cubicBezTo>
                    <a:pt x="229960" y="889908"/>
                    <a:pt x="114980" y="444954"/>
                    <a:pt x="0" y="0"/>
                  </a:cubicBezTo>
                </a:path>
              </a:pathLst>
            </a:custGeom>
            <a:noFill/>
            <a:ln w="12700">
              <a:solidFill>
                <a:srgbClr val="7030A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0092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/>
      <p:bldP spid="19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A751-BD1B-3448-2B44-14176569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 Departments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587A-410B-654E-2646-E0221C4E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tables: location, department, employee</a:t>
            </a:r>
          </a:p>
          <a:p>
            <a:r>
              <a:rPr lang="en-GB" dirty="0"/>
              <a:t>Insert data into tables using the </a:t>
            </a:r>
            <a:r>
              <a:rPr lang="en-GB" dirty="0" err="1"/>
              <a:t>Employee_Departments</a:t>
            </a:r>
            <a:r>
              <a:rPr lang="en-GB" dirty="0"/>
              <a:t> script. txt</a:t>
            </a:r>
          </a:p>
        </p:txBody>
      </p:sp>
    </p:spTree>
    <p:extLst>
      <p:ext uri="{BB962C8B-B14F-4D97-AF65-F5344CB8AC3E}">
        <p14:creationId xmlns:p14="http://schemas.microsoft.com/office/powerpoint/2010/main" val="1201605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31504" y="653035"/>
            <a:ext cx="885698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In the examples that follow the LOCATION, DEPARTMENT, EMPLOYEE database is used -</a:t>
            </a:r>
          </a:p>
          <a:p>
            <a:pPr marL="4919663" indent="-4749800">
              <a:spcAft>
                <a:spcPts val="600"/>
              </a:spcAft>
            </a:pPr>
            <a:r>
              <a:rPr lang="en-US" sz="1400" b="1" dirty="0"/>
              <a:t>LOCATION</a:t>
            </a:r>
            <a:r>
              <a:rPr lang="en-US" sz="1400" dirty="0"/>
              <a:t> (</a:t>
            </a:r>
            <a:r>
              <a:rPr lang="en-US" sz="1400" u="sng" dirty="0" err="1"/>
              <a:t>LocationID</a:t>
            </a:r>
            <a:r>
              <a:rPr lang="en-US" sz="1400" dirty="0"/>
              <a:t> , Address1, Address2, Postcode)</a:t>
            </a:r>
          </a:p>
          <a:p>
            <a:pPr marL="4919663" indent="-4749800">
              <a:spcAft>
                <a:spcPts val="600"/>
              </a:spcAft>
            </a:pPr>
            <a:r>
              <a:rPr lang="en-US" sz="1400" b="1" dirty="0"/>
              <a:t>DEPARTMENT(</a:t>
            </a:r>
            <a:r>
              <a:rPr lang="en-US" sz="1400" dirty="0"/>
              <a:t>(</a:t>
            </a:r>
            <a:r>
              <a:rPr lang="en-US" sz="1400" b="1" dirty="0" err="1"/>
              <a:t>DeptID</a:t>
            </a:r>
            <a:r>
              <a:rPr lang="en-US" sz="1400" dirty="0"/>
              <a:t>, Department, </a:t>
            </a:r>
            <a:r>
              <a:rPr lang="en-US" sz="1400" dirty="0" err="1"/>
              <a:t>LocationID</a:t>
            </a:r>
            <a:r>
              <a:rPr lang="en-US" sz="1400" dirty="0"/>
              <a:t>*)</a:t>
            </a:r>
            <a:r>
              <a:rPr lang="en-GB" sz="1400" dirty="0"/>
              <a:t> </a:t>
            </a:r>
          </a:p>
          <a:p>
            <a:pPr marL="4919663" indent="-4749800">
              <a:spcAft>
                <a:spcPts val="600"/>
              </a:spcAft>
            </a:pPr>
            <a:r>
              <a:rPr lang="en-US" sz="1400" b="1" dirty="0"/>
              <a:t>EMPLOYEE</a:t>
            </a:r>
            <a:r>
              <a:rPr lang="en-US" sz="1400" dirty="0"/>
              <a:t>(</a:t>
            </a:r>
            <a:r>
              <a:rPr lang="en-US" sz="1400" b="1" dirty="0" err="1"/>
              <a:t>EmployeeID</a:t>
            </a:r>
            <a:r>
              <a:rPr lang="en-US" sz="1400" dirty="0"/>
              <a:t>, </a:t>
            </a:r>
            <a:r>
              <a:rPr lang="en-US" sz="1400" dirty="0" err="1"/>
              <a:t>LastName</a:t>
            </a:r>
            <a:r>
              <a:rPr lang="en-US" sz="1400" dirty="0"/>
              <a:t>, </a:t>
            </a:r>
            <a:r>
              <a:rPr lang="en-US" sz="1400" dirty="0" err="1"/>
              <a:t>Firstname</a:t>
            </a:r>
            <a:r>
              <a:rPr lang="en-US" sz="1400" dirty="0"/>
              <a:t>, </a:t>
            </a:r>
            <a:r>
              <a:rPr lang="en-US" sz="1400" dirty="0" err="1"/>
              <a:t>Startdate</a:t>
            </a:r>
            <a:r>
              <a:rPr lang="en-US" sz="1400" dirty="0"/>
              <a:t>, Salary, </a:t>
            </a:r>
            <a:r>
              <a:rPr lang="en-US" sz="1400" dirty="0" err="1"/>
              <a:t>DeptID</a:t>
            </a:r>
            <a:r>
              <a:rPr lang="en-US" sz="1400" dirty="0"/>
              <a:t>*)</a:t>
            </a:r>
            <a:endParaRPr lang="en-GB" sz="1400" dirty="0"/>
          </a:p>
          <a:p>
            <a:pPr marL="4919663" indent="-4749800">
              <a:spcAft>
                <a:spcPts val="600"/>
              </a:spcAft>
            </a:pPr>
            <a:endParaRPr lang="en-US" dirty="0"/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1631504" y="119667"/>
            <a:ext cx="7309594" cy="5232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2800" dirty="0">
                <a:solidFill>
                  <a:prstClr val="black"/>
                </a:solidFill>
                <a:latin typeface="Calibri"/>
              </a:rPr>
              <a:t>EMPLOYEE_DEPARTMENTS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44A2777-BEF4-6642-9F4B-F44755DC78D1}"/>
              </a:ext>
            </a:extLst>
          </p:cNvPr>
          <p:cNvGraphicFramePr>
            <a:graphicFrameLocks noGrp="1"/>
          </p:cNvGraphicFramePr>
          <p:nvPr/>
        </p:nvGraphicFramePr>
        <p:xfrm>
          <a:off x="1631505" y="2147240"/>
          <a:ext cx="5672767" cy="1929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047302658"/>
                    </a:ext>
                  </a:extLst>
                </a:gridCol>
                <a:gridCol w="882809">
                  <a:extLst>
                    <a:ext uri="{9D8B030D-6E8A-4147-A177-3AD203B41FA5}">
                      <a16:colId xmlns:a16="http://schemas.microsoft.com/office/drawing/2014/main" val="2730593786"/>
                    </a:ext>
                  </a:extLst>
                </a:gridCol>
                <a:gridCol w="1385254">
                  <a:extLst>
                    <a:ext uri="{9D8B030D-6E8A-4147-A177-3AD203B41FA5}">
                      <a16:colId xmlns:a16="http://schemas.microsoft.com/office/drawing/2014/main" val="3670287865"/>
                    </a:ext>
                  </a:extLst>
                </a:gridCol>
                <a:gridCol w="1244464">
                  <a:extLst>
                    <a:ext uri="{9D8B030D-6E8A-4147-A177-3AD203B41FA5}">
                      <a16:colId xmlns:a16="http://schemas.microsoft.com/office/drawing/2014/main" val="248696603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985533915"/>
                    </a:ext>
                  </a:extLst>
                </a:gridCol>
              </a:tblGrid>
              <a:tr h="321639">
                <a:tc>
                  <a:txBody>
                    <a:bodyPr/>
                    <a:lstStyle/>
                    <a:p>
                      <a:r>
                        <a:rPr lang="en-US" sz="1400" dirty="0" err="1"/>
                        <a:t>LocationID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Address1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Address2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Postcode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22628"/>
                  </a:ext>
                </a:extLst>
              </a:tr>
              <a:tr h="321639">
                <a:tc>
                  <a:txBody>
                    <a:bodyPr/>
                    <a:lstStyle/>
                    <a:p>
                      <a:r>
                        <a:rPr lang="en-US" sz="1400" dirty="0"/>
                        <a:t>L101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Live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Birmingham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BA04 3LB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208255"/>
                  </a:ext>
                </a:extLst>
              </a:tr>
              <a:tr h="321639">
                <a:tc>
                  <a:txBody>
                    <a:bodyPr/>
                    <a:lstStyle/>
                    <a:p>
                      <a:r>
                        <a:rPr lang="en-US" sz="1400" dirty="0"/>
                        <a:t>L102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McDonald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Liverpool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L04 3LB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45573"/>
                  </a:ext>
                </a:extLst>
              </a:tr>
              <a:tr h="321639">
                <a:tc>
                  <a:txBody>
                    <a:bodyPr/>
                    <a:lstStyle/>
                    <a:p>
                      <a:r>
                        <a:rPr lang="en-US" sz="1400" dirty="0"/>
                        <a:t>L103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College Garden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BA04 3LB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351660"/>
                  </a:ext>
                </a:extLst>
              </a:tr>
              <a:tr h="321639">
                <a:tc>
                  <a:txBody>
                    <a:bodyPr/>
                    <a:lstStyle/>
                    <a:p>
                      <a:r>
                        <a:rPr lang="en-US" sz="1400" dirty="0"/>
                        <a:t>L104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Rose Hill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N11 3XS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04508"/>
                  </a:ext>
                </a:extLst>
              </a:tr>
              <a:tr h="321639">
                <a:tc>
                  <a:txBody>
                    <a:bodyPr/>
                    <a:lstStyle/>
                    <a:p>
                      <a:r>
                        <a:rPr lang="en-US" sz="1400" dirty="0"/>
                        <a:t>L105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Windmill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Liverpool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L14 3LB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3747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8626FA-559D-4748-A553-B9C72B625A0D}"/>
              </a:ext>
            </a:extLst>
          </p:cNvPr>
          <p:cNvSpPr txBox="1"/>
          <p:nvPr/>
        </p:nvSpPr>
        <p:spPr>
          <a:xfrm>
            <a:off x="1571425" y="1804943"/>
            <a:ext cx="115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LOCATION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B067D0C0-BEDC-1444-8337-1CDA5D98CEF0}"/>
              </a:ext>
            </a:extLst>
          </p:cNvPr>
          <p:cNvGraphicFramePr>
            <a:graphicFrameLocks noGrp="1"/>
          </p:cNvGraphicFramePr>
          <p:nvPr/>
        </p:nvGraphicFramePr>
        <p:xfrm>
          <a:off x="8407976" y="1767118"/>
          <a:ext cx="3256225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04">
                  <a:extLst>
                    <a:ext uri="{9D8B030D-6E8A-4147-A177-3AD203B41FA5}">
                      <a16:colId xmlns:a16="http://schemas.microsoft.com/office/drawing/2014/main" val="1170636213"/>
                    </a:ext>
                  </a:extLst>
                </a:gridCol>
                <a:gridCol w="1306991">
                  <a:extLst>
                    <a:ext uri="{9D8B030D-6E8A-4147-A177-3AD203B41FA5}">
                      <a16:colId xmlns:a16="http://schemas.microsoft.com/office/drawing/2014/main" val="502170794"/>
                    </a:ext>
                  </a:extLst>
                </a:gridCol>
                <a:gridCol w="1061930">
                  <a:extLst>
                    <a:ext uri="{9D8B030D-6E8A-4147-A177-3AD203B41FA5}">
                      <a16:colId xmlns:a16="http://schemas.microsoft.com/office/drawing/2014/main" val="316900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DeptID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DeptName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Locationid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30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87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Mathematics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97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477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49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02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Department of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9565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2CC4B33-8146-0A40-BFAD-78F360210D19}"/>
              </a:ext>
            </a:extLst>
          </p:cNvPr>
          <p:cNvSpPr txBox="1"/>
          <p:nvPr/>
        </p:nvSpPr>
        <p:spPr>
          <a:xfrm>
            <a:off x="10240323" y="1408650"/>
            <a:ext cx="1511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DEPARTMENT</a:t>
            </a: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E218F8AA-54F0-EC47-8713-37359BEC41ED}"/>
              </a:ext>
            </a:extLst>
          </p:cNvPr>
          <p:cNvGraphicFramePr>
            <a:graphicFrameLocks noGrp="1"/>
          </p:cNvGraphicFramePr>
          <p:nvPr/>
        </p:nvGraphicFramePr>
        <p:xfrm>
          <a:off x="1611309" y="4193102"/>
          <a:ext cx="592485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316">
                  <a:extLst>
                    <a:ext uri="{9D8B030D-6E8A-4147-A177-3AD203B41FA5}">
                      <a16:colId xmlns:a16="http://schemas.microsoft.com/office/drawing/2014/main" val="21160264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609154830"/>
                    </a:ext>
                  </a:extLst>
                </a:gridCol>
                <a:gridCol w="971700">
                  <a:extLst>
                    <a:ext uri="{9D8B030D-6E8A-4147-A177-3AD203B41FA5}">
                      <a16:colId xmlns:a16="http://schemas.microsoft.com/office/drawing/2014/main" val="2348541262"/>
                    </a:ext>
                  </a:extLst>
                </a:gridCol>
                <a:gridCol w="1094124">
                  <a:extLst>
                    <a:ext uri="{9D8B030D-6E8A-4147-A177-3AD203B41FA5}">
                      <a16:colId xmlns:a16="http://schemas.microsoft.com/office/drawing/2014/main" val="204064707"/>
                    </a:ext>
                  </a:extLst>
                </a:gridCol>
                <a:gridCol w="958512">
                  <a:extLst>
                    <a:ext uri="{9D8B030D-6E8A-4147-A177-3AD203B41FA5}">
                      <a16:colId xmlns:a16="http://schemas.microsoft.com/office/drawing/2014/main" val="3847136525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381417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EmployeeID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LastName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Startdate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DeptID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61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Klopp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Jurgen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2017/03/20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39210.00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54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Alicia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2015/05/17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43210.00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63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Thompson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2016/03/07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33210.00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37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2016/11/09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45710.00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95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Mullins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2017/03/20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32210.00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630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Napp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2016/03/14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22210.00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488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085922-0C34-5547-8B69-3DA8C0DFE5CE}"/>
              </a:ext>
            </a:extLst>
          </p:cNvPr>
          <p:cNvSpPr txBox="1"/>
          <p:nvPr/>
        </p:nvSpPr>
        <p:spPr>
          <a:xfrm>
            <a:off x="7586035" y="5742133"/>
            <a:ext cx="120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1646809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12006" y="138153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29404" y="245368"/>
            <a:ext cx="8856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24113" indent="-2424113">
              <a:spcAft>
                <a:spcPts val="600"/>
              </a:spcAft>
            </a:pPr>
            <a:r>
              <a:rPr lang="en-GB" b="1" dirty="0"/>
              <a:t>CARTESIAN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7935A-9757-A64F-8C52-57E2C5B7166F}"/>
              </a:ext>
            </a:extLst>
          </p:cNvPr>
          <p:cNvSpPr txBox="1"/>
          <p:nvPr/>
        </p:nvSpPr>
        <p:spPr>
          <a:xfrm>
            <a:off x="7129404" y="566300"/>
            <a:ext cx="36938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dirty="0"/>
              <a:t>FROM EMPLOYEE e, DEPARTMENT d</a:t>
            </a:r>
          </a:p>
          <a:p>
            <a:r>
              <a:rPr lang="en-US" dirty="0"/>
              <a:t>______________________________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DA33D-AB79-294F-8A8C-C55ECD2F426F}"/>
              </a:ext>
            </a:extLst>
          </p:cNvPr>
          <p:cNvSpPr txBox="1"/>
          <p:nvPr/>
        </p:nvSpPr>
        <p:spPr>
          <a:xfrm>
            <a:off x="8832304" y="275029"/>
            <a:ext cx="15279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 product of two tables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34092-4A20-B546-9ED4-BA87BED235B1}"/>
              </a:ext>
            </a:extLst>
          </p:cNvPr>
          <p:cNvSpPr txBox="1"/>
          <p:nvPr/>
        </p:nvSpPr>
        <p:spPr>
          <a:xfrm>
            <a:off x="1533906" y="712609"/>
            <a:ext cx="50661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EQUIJOIN </a:t>
            </a:r>
            <a:r>
              <a:rPr lang="en-US" sz="1800" dirty="0"/>
              <a:t>involving of two tables</a:t>
            </a:r>
            <a:endParaRPr lang="en-US" b="1" dirty="0"/>
          </a:p>
          <a:p>
            <a:r>
              <a:rPr lang="en-US" b="1" dirty="0"/>
              <a:t>Get the names of all employees and the department they work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Mark 1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employee. </a:t>
            </a:r>
            <a:r>
              <a:rPr lang="en-US" dirty="0" err="1"/>
              <a:t>lastname</a:t>
            </a:r>
            <a:r>
              <a:rPr lang="en-US" dirty="0"/>
              <a:t>, </a:t>
            </a:r>
          </a:p>
          <a:p>
            <a:r>
              <a:rPr lang="en-US" dirty="0" err="1"/>
              <a:t>department.deptName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EMPLOYEE, DEPARTMENT 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employee.deptID</a:t>
            </a:r>
            <a:r>
              <a:rPr lang="en-US" dirty="0"/>
              <a:t> = department. </a:t>
            </a:r>
            <a:r>
              <a:rPr lang="en-US" dirty="0" err="1"/>
              <a:t>deptID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7E005-3E25-EC4A-BC7A-61101F7CB4FD}"/>
              </a:ext>
            </a:extLst>
          </p:cNvPr>
          <p:cNvSpPr txBox="1"/>
          <p:nvPr/>
        </p:nvSpPr>
        <p:spPr>
          <a:xfrm>
            <a:off x="1533907" y="3610905"/>
            <a:ext cx="3760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3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JOIN</a:t>
            </a:r>
            <a:r>
              <a:rPr lang="en-US" dirty="0"/>
              <a:t> 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B764FA-C85C-3645-943D-189530687945}"/>
              </a:ext>
            </a:extLst>
          </p:cNvPr>
          <p:cNvSpPr txBox="1"/>
          <p:nvPr/>
        </p:nvSpPr>
        <p:spPr>
          <a:xfrm>
            <a:off x="6067103" y="3471979"/>
            <a:ext cx="44065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4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2DAC6-5C17-6D42-9058-26B265D1F601}"/>
              </a:ext>
            </a:extLst>
          </p:cNvPr>
          <p:cNvSpPr txBox="1"/>
          <p:nvPr/>
        </p:nvSpPr>
        <p:spPr>
          <a:xfrm>
            <a:off x="6118203" y="1598155"/>
            <a:ext cx="46661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Mark 2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e. 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EMPLOYEE, DEPARTMENT 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02ED7-6040-4B4C-9483-01FADE05ACE3}"/>
              </a:ext>
            </a:extLst>
          </p:cNvPr>
          <p:cNvSpPr txBox="1"/>
          <p:nvPr/>
        </p:nvSpPr>
        <p:spPr>
          <a:xfrm>
            <a:off x="1533907" y="5127555"/>
            <a:ext cx="44065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5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26311-85AD-4448-A893-E071BCC92A8B}"/>
              </a:ext>
            </a:extLst>
          </p:cNvPr>
          <p:cNvSpPr txBox="1"/>
          <p:nvPr/>
        </p:nvSpPr>
        <p:spPr>
          <a:xfrm>
            <a:off x="6129365" y="5068805"/>
            <a:ext cx="44065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6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9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90140" y="71707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34092-4A20-B546-9ED4-BA87BED235B1}"/>
              </a:ext>
            </a:extLst>
          </p:cNvPr>
          <p:cNvSpPr txBox="1"/>
          <p:nvPr/>
        </p:nvSpPr>
        <p:spPr>
          <a:xfrm>
            <a:off x="273515" y="584511"/>
            <a:ext cx="57862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EQUIJOIN </a:t>
            </a:r>
            <a:r>
              <a:rPr lang="en-US" sz="1800" dirty="0"/>
              <a:t>involving of three tables</a:t>
            </a:r>
            <a:r>
              <a:rPr lang="en-US" b="1" dirty="0"/>
              <a:t> </a:t>
            </a:r>
          </a:p>
          <a:p>
            <a:r>
              <a:rPr lang="en-US" b="1" dirty="0"/>
              <a:t>Get the names of all employees and the department </a:t>
            </a:r>
          </a:p>
          <a:p>
            <a:r>
              <a:rPr lang="en-US" b="1" dirty="0"/>
              <a:t>they work as well as the City they are based.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Mark 1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employee. </a:t>
            </a:r>
            <a:r>
              <a:rPr lang="en-US" dirty="0" err="1"/>
              <a:t>lastname</a:t>
            </a:r>
            <a:r>
              <a:rPr lang="en-US" dirty="0"/>
              <a:t>, </a:t>
            </a:r>
          </a:p>
          <a:p>
            <a:r>
              <a:rPr lang="en-US" dirty="0" err="1"/>
              <a:t>department.deptName</a:t>
            </a:r>
            <a:r>
              <a:rPr lang="en-US" dirty="0"/>
              <a:t>, </a:t>
            </a:r>
            <a:r>
              <a:rPr lang="en-US" dirty="0" err="1"/>
              <a:t>location.city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EMPLOYEE, DEPARTMENT, LOCATION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employee.deptID</a:t>
            </a:r>
            <a:r>
              <a:rPr lang="en-US" dirty="0"/>
              <a:t> = department.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location.locationid</a:t>
            </a:r>
            <a:r>
              <a:rPr lang="en-US" dirty="0"/>
              <a:t> = </a:t>
            </a:r>
            <a:r>
              <a:rPr lang="en-US" dirty="0" err="1"/>
              <a:t>department.locationid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7E005-3E25-EC4A-BC7A-61101F7CB4FD}"/>
              </a:ext>
            </a:extLst>
          </p:cNvPr>
          <p:cNvSpPr txBox="1"/>
          <p:nvPr/>
        </p:nvSpPr>
        <p:spPr>
          <a:xfrm>
            <a:off x="6915817" y="436983"/>
            <a:ext cx="38134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3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JOIN</a:t>
            </a:r>
            <a:r>
              <a:rPr lang="en-US" dirty="0"/>
              <a:t> department d </a:t>
            </a:r>
          </a:p>
          <a:p>
            <a:r>
              <a:rPr lang="en-US" b="1" dirty="0">
                <a:solidFill>
                  <a:schemeClr val="accent2"/>
                </a:solidFill>
              </a:rPr>
              <a:t>JOIN</a:t>
            </a:r>
            <a:r>
              <a:rPr lang="en-US" dirty="0"/>
              <a:t> 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B764FA-C85C-3645-943D-189530687945}"/>
              </a:ext>
            </a:extLst>
          </p:cNvPr>
          <p:cNvSpPr txBox="1"/>
          <p:nvPr/>
        </p:nvSpPr>
        <p:spPr>
          <a:xfrm>
            <a:off x="6915817" y="2389815"/>
            <a:ext cx="46547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4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dirty="0"/>
              <a:t>AND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2DAC6-5C17-6D42-9058-26B265D1F601}"/>
              </a:ext>
            </a:extLst>
          </p:cNvPr>
          <p:cNvSpPr txBox="1"/>
          <p:nvPr/>
        </p:nvSpPr>
        <p:spPr>
          <a:xfrm>
            <a:off x="273515" y="3204348"/>
            <a:ext cx="49100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Mark 2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e. 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e, DEPARTMENT d, 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02ED7-6040-4B4C-9483-01FADE05ACE3}"/>
              </a:ext>
            </a:extLst>
          </p:cNvPr>
          <p:cNvSpPr txBox="1"/>
          <p:nvPr/>
        </p:nvSpPr>
        <p:spPr>
          <a:xfrm>
            <a:off x="3760272" y="4611307"/>
            <a:ext cx="440659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5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SELECT</a:t>
            </a:r>
            <a:r>
              <a:rPr lang="en-US" sz="1600" dirty="0"/>
              <a:t> </a:t>
            </a:r>
            <a:r>
              <a:rPr lang="en-US" sz="1600" dirty="0" err="1"/>
              <a:t>e.lastname</a:t>
            </a:r>
            <a:r>
              <a:rPr lang="en-US" sz="1600" dirty="0"/>
              <a:t>, </a:t>
            </a:r>
            <a:r>
              <a:rPr lang="en-US" sz="1600" dirty="0" err="1"/>
              <a:t>d.deptName</a:t>
            </a:r>
            <a:endParaRPr lang="en-US" sz="1600" dirty="0"/>
          </a:p>
          <a:p>
            <a:r>
              <a:rPr lang="en-US" sz="1600" b="1" dirty="0">
                <a:solidFill>
                  <a:schemeClr val="accent2"/>
                </a:solidFill>
              </a:rPr>
              <a:t>FROM</a:t>
            </a:r>
            <a:r>
              <a:rPr lang="en-US" sz="1600" dirty="0"/>
              <a:t> employee e </a:t>
            </a:r>
            <a:r>
              <a:rPr lang="en-US" sz="1600" dirty="0">
                <a:solidFill>
                  <a:schemeClr val="accent2"/>
                </a:solidFill>
              </a:rPr>
              <a:t>INNER JOIN </a:t>
            </a:r>
            <a:r>
              <a:rPr lang="en-US" sz="1600" dirty="0"/>
              <a:t>department d</a:t>
            </a:r>
          </a:p>
          <a:p>
            <a:r>
              <a:rPr lang="en-US" sz="1600" b="1" dirty="0">
                <a:solidFill>
                  <a:schemeClr val="accent2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e.deptID</a:t>
            </a:r>
            <a:r>
              <a:rPr lang="en-US" sz="1600" dirty="0"/>
              <a:t> = d. </a:t>
            </a:r>
            <a:r>
              <a:rPr lang="en-US" sz="1600" dirty="0" err="1"/>
              <a:t>deptID</a:t>
            </a:r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INNER JOIN </a:t>
            </a:r>
            <a:r>
              <a:rPr lang="en-US" sz="1600" dirty="0"/>
              <a:t>LOCATION L</a:t>
            </a:r>
          </a:p>
          <a:p>
            <a:r>
              <a:rPr lang="en-US" sz="1600" dirty="0">
                <a:solidFill>
                  <a:srgbClr val="FF0000"/>
                </a:solidFill>
              </a:rPr>
              <a:t>ON</a:t>
            </a:r>
            <a:r>
              <a:rPr lang="en-US" sz="1600" dirty="0"/>
              <a:t> </a:t>
            </a:r>
            <a:r>
              <a:rPr lang="en-US" sz="1600" dirty="0" err="1"/>
              <a:t>d.locationid</a:t>
            </a:r>
            <a:r>
              <a:rPr lang="en-US" sz="1600" dirty="0"/>
              <a:t> – </a:t>
            </a:r>
            <a:r>
              <a:rPr lang="en-US" sz="1600" dirty="0" err="1"/>
              <a:t>L.locationid</a:t>
            </a:r>
            <a:endParaRPr lang="en-US" sz="1600" dirty="0"/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26311-85AD-4448-A893-E071BCC92A8B}"/>
              </a:ext>
            </a:extLst>
          </p:cNvPr>
          <p:cNvSpPr txBox="1"/>
          <p:nvPr/>
        </p:nvSpPr>
        <p:spPr>
          <a:xfrm>
            <a:off x="7740311" y="4575028"/>
            <a:ext cx="44065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6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FF0000"/>
                </a:solidFill>
              </a:rPr>
              <a:t>INNER JOIN </a:t>
            </a:r>
            <a:r>
              <a:rPr lang="en-US" dirty="0"/>
              <a:t>Location L</a:t>
            </a:r>
          </a:p>
          <a:p>
            <a:r>
              <a:rPr lang="en-US" dirty="0">
                <a:solidFill>
                  <a:srgbClr val="FF0000"/>
                </a:solidFill>
              </a:rPr>
              <a:t>USING</a:t>
            </a:r>
            <a:r>
              <a:rPr lang="en-US" dirty="0"/>
              <a:t>(</a:t>
            </a:r>
            <a:r>
              <a:rPr lang="en-US" dirty="0" err="1"/>
              <a:t>locationid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63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533906" y="166120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34092-4A20-B546-9ED4-BA87BED235B1}"/>
              </a:ext>
            </a:extLst>
          </p:cNvPr>
          <p:cNvSpPr txBox="1"/>
          <p:nvPr/>
        </p:nvSpPr>
        <p:spPr>
          <a:xfrm>
            <a:off x="1533906" y="712609"/>
            <a:ext cx="5786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EQUIJOIN </a:t>
            </a:r>
            <a:r>
              <a:rPr lang="en-US" sz="1800" dirty="0"/>
              <a:t>involving of three tables</a:t>
            </a:r>
            <a:endParaRPr lang="en-US" b="1" dirty="0"/>
          </a:p>
          <a:p>
            <a:r>
              <a:rPr lang="en-US" b="1" dirty="0"/>
              <a:t>Get the employee names, department and the city of all employees who earn more than 34000.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02ED7-6040-4B4C-9483-01FADE05ACE3}"/>
              </a:ext>
            </a:extLst>
          </p:cNvPr>
          <p:cNvSpPr txBox="1"/>
          <p:nvPr/>
        </p:nvSpPr>
        <p:spPr>
          <a:xfrm>
            <a:off x="1653406" y="1772816"/>
            <a:ext cx="44065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1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e.salary</a:t>
            </a:r>
            <a:r>
              <a:rPr lang="en-US" dirty="0"/>
              <a:t> &gt; 34000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C26311-85AD-4448-A893-E071BCC92A8B}"/>
              </a:ext>
            </a:extLst>
          </p:cNvPr>
          <p:cNvSpPr txBox="1"/>
          <p:nvPr/>
        </p:nvSpPr>
        <p:spPr>
          <a:xfrm>
            <a:off x="1660165" y="4132164"/>
            <a:ext cx="440659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6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locationid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e.salary</a:t>
            </a:r>
            <a:r>
              <a:rPr lang="en-US" dirty="0"/>
              <a:t> &gt; 34000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7E237-7952-8F47-90C6-BC89E0223A92}"/>
              </a:ext>
            </a:extLst>
          </p:cNvPr>
          <p:cNvSpPr txBox="1"/>
          <p:nvPr/>
        </p:nvSpPr>
        <p:spPr>
          <a:xfrm>
            <a:off x="5933999" y="1987173"/>
            <a:ext cx="47518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2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e. </a:t>
            </a:r>
            <a:r>
              <a:rPr lang="en-US" dirty="0" err="1"/>
              <a:t>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e, DEPARTMENT d, 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r>
              <a:rPr lang="en-US" dirty="0"/>
              <a:t>AND </a:t>
            </a:r>
            <a:r>
              <a:rPr lang="en-US" dirty="0" err="1"/>
              <a:t>e.salary</a:t>
            </a:r>
            <a:r>
              <a:rPr lang="en-US" dirty="0"/>
              <a:t> &gt; 34000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C9545-A218-2444-B5E2-5D5D730B284B}"/>
              </a:ext>
            </a:extLst>
          </p:cNvPr>
          <p:cNvSpPr txBox="1"/>
          <p:nvPr/>
        </p:nvSpPr>
        <p:spPr>
          <a:xfrm>
            <a:off x="6157784" y="4312508"/>
            <a:ext cx="46547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Mark 4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r>
              <a:rPr lang="en-US" dirty="0"/>
              <a:t>, </a:t>
            </a:r>
            <a:r>
              <a:rPr lang="en-US" dirty="0" err="1"/>
              <a:t>l.city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DEPARTMENT d</a:t>
            </a:r>
          </a:p>
          <a:p>
            <a:r>
              <a:rPr lang="en-US" dirty="0">
                <a:solidFill>
                  <a:schemeClr val="accent2"/>
                </a:solidFill>
              </a:rPr>
              <a:t>INNER JOIN </a:t>
            </a:r>
            <a:r>
              <a:rPr lang="en-US" dirty="0"/>
              <a:t>LOCATION l</a:t>
            </a:r>
          </a:p>
          <a:p>
            <a:r>
              <a:rPr lang="en-US" b="1" dirty="0">
                <a:solidFill>
                  <a:schemeClr val="accent2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d. </a:t>
            </a:r>
            <a:r>
              <a:rPr lang="en-US" dirty="0" err="1"/>
              <a:t>deptID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l.locationid</a:t>
            </a:r>
            <a:r>
              <a:rPr lang="en-US" dirty="0"/>
              <a:t> = </a:t>
            </a:r>
            <a:r>
              <a:rPr lang="en-US" dirty="0" err="1"/>
              <a:t>d.locationid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e.salary</a:t>
            </a:r>
            <a:r>
              <a:rPr lang="en-US" dirty="0"/>
              <a:t> &gt; 34000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95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776" y="141724"/>
            <a:ext cx="16459200" cy="263149"/>
          </a:xfrm>
          <a:prstGeom prst="rect">
            <a:avLst/>
          </a:prstGeom>
        </p:spPr>
        <p:txBody>
          <a:bodyPr vert="horz" wrap="square" lIns="0" tIns="25400" rIns="0" bIns="0" rtlCol="0" anchor="ctr">
            <a:spAutoFit/>
          </a:bodyPr>
          <a:lstStyle/>
          <a:p>
            <a:pPr marL="25400">
              <a:spcBef>
                <a:spcPts val="200"/>
              </a:spcBef>
            </a:pPr>
            <a:r>
              <a:rPr sz="1800" b="1" spc="-10" dirty="0"/>
              <a:t>Further SQL </a:t>
            </a:r>
            <a:r>
              <a:rPr sz="1800" b="1" dirty="0"/>
              <a:t>– </a:t>
            </a:r>
            <a:r>
              <a:rPr sz="1800" b="1" spc="-10" dirty="0"/>
              <a:t>More </a:t>
            </a:r>
            <a:r>
              <a:rPr sz="1800" b="1" spc="-20" dirty="0"/>
              <a:t>Operators </a:t>
            </a:r>
            <a:r>
              <a:rPr sz="1800" b="1" dirty="0"/>
              <a:t>and JOIN</a:t>
            </a:r>
            <a:r>
              <a:rPr sz="1800" b="1" spc="-200" dirty="0"/>
              <a:t> </a:t>
            </a:r>
            <a:r>
              <a:rPr sz="1800" b="1" dirty="0"/>
              <a:t>Queries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06029" y="1784603"/>
            <a:ext cx="64643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2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_A</a:t>
            </a:r>
            <a:endParaRPr sz="1400" dirty="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201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630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24608" y="761"/>
            <a:ext cx="9144000" cy="6855458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30"/>
                </a:moveTo>
                <a:lnTo>
                  <a:pt x="4571746" y="3427730"/>
                </a:lnTo>
                <a:lnTo>
                  <a:pt x="4571746" y="0"/>
                </a:lnTo>
                <a:lnTo>
                  <a:pt x="0" y="0"/>
                </a:lnTo>
                <a:lnTo>
                  <a:pt x="0" y="342773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9EEC6-9C4B-5B4D-B642-37F828B8BE38}"/>
              </a:ext>
            </a:extLst>
          </p:cNvPr>
          <p:cNvSpPr txBox="1"/>
          <p:nvPr/>
        </p:nvSpPr>
        <p:spPr>
          <a:xfrm>
            <a:off x="5752596" y="861272"/>
            <a:ext cx="4228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LEFT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</a:t>
            </a:r>
            <a:r>
              <a:rPr lang="en-US" dirty="0" err="1"/>
              <a:t>d.deptid</a:t>
            </a:r>
            <a:endParaRPr lang="en-US" dirty="0"/>
          </a:p>
        </p:txBody>
      </p:sp>
      <p:pic>
        <p:nvPicPr>
          <p:cNvPr id="54" name="Picture 53" descr="Chart, bubble chart&#10;&#10;Description automatically generated">
            <a:extLst>
              <a:ext uri="{FF2B5EF4-FFF2-40B4-BE49-F238E27FC236}">
                <a16:creationId xmlns:a16="http://schemas.microsoft.com/office/drawing/2014/main" id="{B01739E3-09B4-3146-A46B-25A72B768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46" y="662951"/>
            <a:ext cx="4178300" cy="35306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54C4860-8E3E-8446-B871-0F26C4D47421}"/>
              </a:ext>
            </a:extLst>
          </p:cNvPr>
          <p:cNvSpPr txBox="1"/>
          <p:nvPr/>
        </p:nvSpPr>
        <p:spPr>
          <a:xfrm>
            <a:off x="5752596" y="2012117"/>
            <a:ext cx="49708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LEFT OUTER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</a:t>
            </a:r>
            <a:r>
              <a:rPr lang="en-US" dirty="0" err="1"/>
              <a:t>d.deptid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89124-B9B9-7443-8CD8-7B37C6378ACA}"/>
              </a:ext>
            </a:extLst>
          </p:cNvPr>
          <p:cNvSpPr txBox="1"/>
          <p:nvPr/>
        </p:nvSpPr>
        <p:spPr>
          <a:xfrm>
            <a:off x="5738984" y="3237470"/>
            <a:ext cx="49708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LEFT OUTER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0C0B06-B294-164C-8910-B1222B29608E}"/>
              </a:ext>
            </a:extLst>
          </p:cNvPr>
          <p:cNvSpPr txBox="1"/>
          <p:nvPr/>
        </p:nvSpPr>
        <p:spPr>
          <a:xfrm>
            <a:off x="1668777" y="4837260"/>
            <a:ext cx="8320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spc="-5" dirty="0">
                <a:solidFill>
                  <a:srgbClr val="C00000"/>
                </a:solidFill>
                <a:latin typeface="Carlito"/>
                <a:cs typeface="Carlito"/>
              </a:rPr>
              <a:t>Note: </a:t>
            </a:r>
            <a:r>
              <a:rPr lang="en-GB" dirty="0">
                <a:latin typeface="Carlito"/>
                <a:cs typeface="Carlito"/>
              </a:rPr>
              <a:t>A </a:t>
            </a:r>
            <a:r>
              <a:rPr lang="en-GB" b="1" dirty="0">
                <a:solidFill>
                  <a:srgbClr val="006FC0"/>
                </a:solidFill>
                <a:latin typeface="Carlito"/>
                <a:cs typeface="Carlito"/>
              </a:rPr>
              <a:t>LEFT </a:t>
            </a:r>
            <a:r>
              <a:rPr lang="en-GB" b="1" spc="-5" dirty="0">
                <a:solidFill>
                  <a:srgbClr val="006FC0"/>
                </a:solidFill>
                <a:latin typeface="Carlito"/>
                <a:cs typeface="Carlito"/>
              </a:rPr>
              <a:t>JOIN </a:t>
            </a:r>
            <a:r>
              <a:rPr lang="en-GB" spc="-10" dirty="0">
                <a:latin typeface="Carlito"/>
                <a:cs typeface="Carlito"/>
              </a:rPr>
              <a:t>returns </a:t>
            </a:r>
            <a:r>
              <a:rPr lang="en-GB" spc="-5" dirty="0">
                <a:latin typeface="Carlito"/>
                <a:cs typeface="Carlito"/>
              </a:rPr>
              <a:t>all the values </a:t>
            </a:r>
            <a:r>
              <a:rPr lang="en-GB" spc="-10" dirty="0">
                <a:latin typeface="Carlito"/>
                <a:cs typeface="Carlito"/>
              </a:rPr>
              <a:t>from </a:t>
            </a:r>
            <a:r>
              <a:rPr lang="en-GB" spc="-5" dirty="0">
                <a:latin typeface="Carlito"/>
                <a:cs typeface="Carlito"/>
              </a:rPr>
              <a:t>the </a:t>
            </a:r>
            <a:r>
              <a:rPr lang="en-GB" spc="-10" dirty="0">
                <a:latin typeface="Carlito"/>
                <a:cs typeface="Carlito"/>
              </a:rPr>
              <a:t>left  </a:t>
            </a:r>
            <a:r>
              <a:rPr lang="en-GB" spc="-5" dirty="0">
                <a:latin typeface="Carlito"/>
                <a:cs typeface="Carlito"/>
              </a:rPr>
              <a:t>table, </a:t>
            </a:r>
          </a:p>
          <a:p>
            <a:r>
              <a:rPr lang="en-GB" spc="-5" dirty="0">
                <a:latin typeface="Carlito"/>
                <a:cs typeface="Carlito"/>
              </a:rPr>
              <a:t>plus, </a:t>
            </a:r>
            <a:r>
              <a:rPr lang="en-GB" spc="-10" dirty="0">
                <a:latin typeface="Carlito"/>
                <a:cs typeface="Carlito"/>
              </a:rPr>
              <a:t>matched </a:t>
            </a:r>
            <a:r>
              <a:rPr lang="en-GB" spc="-5" dirty="0">
                <a:latin typeface="Carlito"/>
                <a:cs typeface="Carlito"/>
              </a:rPr>
              <a:t>values </a:t>
            </a:r>
            <a:r>
              <a:rPr lang="en-GB" spc="-10" dirty="0">
                <a:latin typeface="Carlito"/>
                <a:cs typeface="Carlito"/>
              </a:rPr>
              <a:t>from </a:t>
            </a:r>
            <a:r>
              <a:rPr lang="en-GB" spc="-5" dirty="0">
                <a:latin typeface="Carlito"/>
                <a:cs typeface="Carlito"/>
              </a:rPr>
              <a:t>the right table  or </a:t>
            </a:r>
            <a:r>
              <a:rPr lang="en-GB" i="1" dirty="0">
                <a:latin typeface="Carlito"/>
                <a:cs typeface="Carlito"/>
              </a:rPr>
              <a:t>NULL </a:t>
            </a:r>
            <a:r>
              <a:rPr lang="en-GB" spc="-5" dirty="0">
                <a:latin typeface="Carlito"/>
                <a:cs typeface="Carlito"/>
              </a:rPr>
              <a:t>in case of no </a:t>
            </a:r>
            <a:r>
              <a:rPr lang="en-GB" spc="-10" dirty="0">
                <a:latin typeface="Carlito"/>
                <a:cs typeface="Carlito"/>
              </a:rPr>
              <a:t>matching </a:t>
            </a:r>
            <a:r>
              <a:rPr lang="en-GB" spc="-5" dirty="0">
                <a:latin typeface="Carlito"/>
                <a:cs typeface="Carlito"/>
              </a:rPr>
              <a:t>join</a:t>
            </a:r>
            <a:r>
              <a:rPr lang="en-GB" spc="10" dirty="0">
                <a:latin typeface="Carlito"/>
                <a:cs typeface="Carlito"/>
              </a:rPr>
              <a:t> </a:t>
            </a:r>
            <a:r>
              <a:rPr lang="en-GB" spc="-10" dirty="0">
                <a:latin typeface="Carlito"/>
                <a:cs typeface="Carlito"/>
              </a:rPr>
              <a:t>predicate.</a:t>
            </a:r>
            <a:endParaRPr lang="en-GB" dirty="0">
              <a:latin typeface="Carlito"/>
              <a:cs typeface="Carlit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6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776" y="141724"/>
            <a:ext cx="16459200" cy="263149"/>
          </a:xfrm>
          <a:prstGeom prst="rect">
            <a:avLst/>
          </a:prstGeom>
        </p:spPr>
        <p:txBody>
          <a:bodyPr vert="horz" wrap="square" lIns="0" tIns="25400" rIns="0" bIns="0" rtlCol="0" anchor="ctr">
            <a:spAutoFit/>
          </a:bodyPr>
          <a:lstStyle/>
          <a:p>
            <a:pPr marL="25400">
              <a:spcBef>
                <a:spcPts val="200"/>
              </a:spcBef>
            </a:pPr>
            <a:r>
              <a:rPr sz="1800" b="1" spc="-10" dirty="0"/>
              <a:t>Further SQL </a:t>
            </a:r>
            <a:r>
              <a:rPr sz="1800" b="1" dirty="0"/>
              <a:t>– </a:t>
            </a:r>
            <a:r>
              <a:rPr sz="1800" b="1" spc="-10" dirty="0"/>
              <a:t>More </a:t>
            </a:r>
            <a:r>
              <a:rPr sz="1800" b="1" spc="-20" dirty="0"/>
              <a:t>Operators </a:t>
            </a:r>
            <a:r>
              <a:rPr sz="1800" b="1" dirty="0"/>
              <a:t>and JOIN</a:t>
            </a:r>
            <a:r>
              <a:rPr sz="1800" b="1" spc="-200" dirty="0"/>
              <a:t> </a:t>
            </a:r>
            <a:r>
              <a:rPr sz="1800" b="1" dirty="0"/>
              <a:t>Queries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06029" y="1784603"/>
            <a:ext cx="64643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2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201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630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24608" y="761"/>
            <a:ext cx="9144000" cy="6855458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30"/>
                </a:moveTo>
                <a:lnTo>
                  <a:pt x="4571746" y="3427730"/>
                </a:lnTo>
                <a:lnTo>
                  <a:pt x="4571746" y="0"/>
                </a:lnTo>
                <a:lnTo>
                  <a:pt x="0" y="0"/>
                </a:lnTo>
                <a:lnTo>
                  <a:pt x="0" y="342773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9EEC6-9C4B-5B4D-B642-37F828B8BE38}"/>
              </a:ext>
            </a:extLst>
          </p:cNvPr>
          <p:cNvSpPr txBox="1"/>
          <p:nvPr/>
        </p:nvSpPr>
        <p:spPr>
          <a:xfrm>
            <a:off x="5670374" y="873032"/>
            <a:ext cx="44242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RIGHT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</a:t>
            </a:r>
            <a:r>
              <a:rPr lang="en-US" dirty="0" err="1"/>
              <a:t>d.deptid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4C4860-8E3E-8446-B871-0F26C4D47421}"/>
              </a:ext>
            </a:extLst>
          </p:cNvPr>
          <p:cNvSpPr txBox="1"/>
          <p:nvPr/>
        </p:nvSpPr>
        <p:spPr>
          <a:xfrm>
            <a:off x="5627627" y="2024411"/>
            <a:ext cx="5139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RIGHT OUTER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e.deptid</a:t>
            </a:r>
            <a:r>
              <a:rPr lang="en-US" dirty="0"/>
              <a:t> = </a:t>
            </a:r>
            <a:r>
              <a:rPr lang="en-US" dirty="0" err="1"/>
              <a:t>d.deptid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089124-B9B9-7443-8CD8-7B37C6378ACA}"/>
              </a:ext>
            </a:extLst>
          </p:cNvPr>
          <p:cNvSpPr txBox="1"/>
          <p:nvPr/>
        </p:nvSpPr>
        <p:spPr>
          <a:xfrm>
            <a:off x="5620352" y="3301229"/>
            <a:ext cx="5139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RIGHT OUTER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B422ABE7-2895-5449-9B3D-5C8E71582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10" y="644982"/>
            <a:ext cx="4114800" cy="3657600"/>
          </a:xfrm>
          <a:prstGeom prst="rect">
            <a:avLst/>
          </a:prstGeom>
        </p:spPr>
      </p:pic>
      <p:sp>
        <p:nvSpPr>
          <p:cNvPr id="15" name="object 13">
            <a:extLst>
              <a:ext uri="{FF2B5EF4-FFF2-40B4-BE49-F238E27FC236}">
                <a16:creationId xmlns:a16="http://schemas.microsoft.com/office/drawing/2014/main" id="{1058B38F-AB9E-FD4E-9356-24D0A4C36C2C}"/>
              </a:ext>
            </a:extLst>
          </p:cNvPr>
          <p:cNvSpPr txBox="1"/>
          <p:nvPr/>
        </p:nvSpPr>
        <p:spPr>
          <a:xfrm>
            <a:off x="1919416" y="4860440"/>
            <a:ext cx="7632968" cy="732573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71780" marR="5080" indent="-259715">
              <a:lnSpc>
                <a:spcPts val="860"/>
              </a:lnSpc>
              <a:spcBef>
                <a:spcPts val="215"/>
              </a:spcBef>
            </a:pPr>
            <a:r>
              <a:rPr sz="1600" b="1" spc="-5" dirty="0">
                <a:solidFill>
                  <a:srgbClr val="C00000"/>
                </a:solidFill>
                <a:latin typeface="Carlito"/>
                <a:cs typeface="Carlito"/>
              </a:rPr>
              <a:t>Note: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b="1" dirty="0">
                <a:solidFill>
                  <a:srgbClr val="006FC0"/>
                </a:solidFill>
                <a:latin typeface="Carlito"/>
                <a:cs typeface="Carlito"/>
              </a:rPr>
              <a:t>RIGHT </a:t>
            </a:r>
            <a:r>
              <a:rPr sz="1600" b="1" spc="-5" dirty="0">
                <a:solidFill>
                  <a:srgbClr val="006FC0"/>
                </a:solidFill>
                <a:latin typeface="Carlito"/>
                <a:cs typeface="Carlito"/>
              </a:rPr>
              <a:t>JOIN </a:t>
            </a:r>
            <a:r>
              <a:rPr sz="1600" spc="-5" dirty="0">
                <a:latin typeface="Carlito"/>
                <a:cs typeface="Carlito"/>
              </a:rPr>
              <a:t>is similar </a:t>
            </a:r>
            <a:r>
              <a:rPr sz="1600" spc="-10" dirty="0">
                <a:latin typeface="Carlito"/>
                <a:cs typeface="Carlito"/>
              </a:rPr>
              <a:t>to </a:t>
            </a:r>
            <a:r>
              <a:rPr sz="1600" dirty="0">
                <a:latin typeface="Carlito"/>
                <a:cs typeface="Carlito"/>
              </a:rPr>
              <a:t>a </a:t>
            </a:r>
            <a:r>
              <a:rPr sz="1600" spc="-5" dirty="0">
                <a:latin typeface="Carlito"/>
                <a:cs typeface="Carlito"/>
              </a:rPr>
              <a:t>LEFT JOIN, but  with the </a:t>
            </a:r>
            <a:r>
              <a:rPr sz="1600" spc="-10" dirty="0">
                <a:latin typeface="Carlito"/>
                <a:cs typeface="Carlito"/>
              </a:rPr>
              <a:t>treatment </a:t>
            </a:r>
            <a:r>
              <a:rPr sz="1600" spc="-5" dirty="0">
                <a:latin typeface="Carlito"/>
                <a:cs typeface="Carlito"/>
              </a:rPr>
              <a:t>of the tables </a:t>
            </a:r>
            <a:r>
              <a:rPr sz="1600" spc="-10" dirty="0">
                <a:latin typeface="Carlito"/>
                <a:cs typeface="Carlito"/>
              </a:rPr>
              <a:t>reversed. </a:t>
            </a:r>
            <a:endParaRPr lang="en-GB" sz="1600" spc="-10" dirty="0">
              <a:latin typeface="Carlito"/>
              <a:cs typeface="Carlito"/>
            </a:endParaRPr>
          </a:p>
          <a:p>
            <a:pPr marL="271780" marR="5080" indent="-259715">
              <a:lnSpc>
                <a:spcPts val="860"/>
              </a:lnSpc>
              <a:spcBef>
                <a:spcPts val="215"/>
              </a:spcBef>
            </a:pPr>
            <a:endParaRPr lang="en-GB" sz="1600" spc="-10" dirty="0">
              <a:latin typeface="Carlito"/>
              <a:cs typeface="Carlito"/>
            </a:endParaRPr>
          </a:p>
          <a:p>
            <a:pPr marL="271780" marR="5080" indent="-259715">
              <a:lnSpc>
                <a:spcPts val="860"/>
              </a:lnSpc>
              <a:spcBef>
                <a:spcPts val="215"/>
              </a:spcBef>
            </a:pPr>
            <a:r>
              <a:rPr sz="1600" spc="-10" dirty="0">
                <a:latin typeface="Carlito"/>
                <a:cs typeface="Carlito"/>
              </a:rPr>
              <a:t> Returns </a:t>
            </a:r>
            <a:r>
              <a:rPr sz="1600" spc="-5" dirty="0">
                <a:latin typeface="Carlito"/>
                <a:cs typeface="Carlito"/>
              </a:rPr>
              <a:t>all the values </a:t>
            </a:r>
            <a:r>
              <a:rPr sz="1600" spc="-10" dirty="0">
                <a:latin typeface="Carlito"/>
                <a:cs typeface="Carlito"/>
              </a:rPr>
              <a:t>from </a:t>
            </a:r>
            <a:r>
              <a:rPr sz="1600" spc="-5" dirty="0">
                <a:latin typeface="Carlito"/>
                <a:cs typeface="Carlito"/>
              </a:rPr>
              <a:t>the right table, plus  </a:t>
            </a:r>
            <a:r>
              <a:rPr sz="1600" spc="-10" dirty="0">
                <a:latin typeface="Carlito"/>
                <a:cs typeface="Carlito"/>
              </a:rPr>
              <a:t>matched </a:t>
            </a:r>
            <a:r>
              <a:rPr sz="1600" spc="-5" dirty="0">
                <a:latin typeface="Carlito"/>
                <a:cs typeface="Carlito"/>
              </a:rPr>
              <a:t>values </a:t>
            </a:r>
            <a:r>
              <a:rPr sz="1600" spc="-10" dirty="0">
                <a:latin typeface="Carlito"/>
                <a:cs typeface="Carlito"/>
              </a:rPr>
              <a:t>from </a:t>
            </a:r>
            <a:r>
              <a:rPr sz="1600" spc="-5" dirty="0">
                <a:latin typeface="Carlito"/>
                <a:cs typeface="Carlito"/>
              </a:rPr>
              <a:t>the </a:t>
            </a:r>
            <a:r>
              <a:rPr sz="1600" spc="-10" dirty="0">
                <a:latin typeface="Carlito"/>
                <a:cs typeface="Carlito"/>
              </a:rPr>
              <a:t>left </a:t>
            </a:r>
            <a:r>
              <a:rPr sz="1600" spc="-5" dirty="0">
                <a:latin typeface="Carlito"/>
                <a:cs typeface="Carlito"/>
              </a:rPr>
              <a:t>table or </a:t>
            </a:r>
            <a:r>
              <a:rPr sz="1600" i="1" dirty="0">
                <a:latin typeface="Carlito"/>
                <a:cs typeface="Carlito"/>
              </a:rPr>
              <a:t>NULL</a:t>
            </a:r>
            <a:endParaRPr lang="en-GB" sz="1600" i="1" dirty="0">
              <a:latin typeface="Carlito"/>
              <a:cs typeface="Carlito"/>
            </a:endParaRPr>
          </a:p>
          <a:p>
            <a:pPr marL="271780" marR="5080" indent="-259715">
              <a:lnSpc>
                <a:spcPts val="860"/>
              </a:lnSpc>
              <a:spcBef>
                <a:spcPts val="215"/>
              </a:spcBef>
            </a:pPr>
            <a:endParaRPr lang="en-GB" sz="1600" i="1" dirty="0">
              <a:latin typeface="Carlito"/>
              <a:cs typeface="Carlito"/>
            </a:endParaRPr>
          </a:p>
          <a:p>
            <a:pPr marL="271780" marR="5080" indent="-259715">
              <a:lnSpc>
                <a:spcPts val="860"/>
              </a:lnSpc>
              <a:spcBef>
                <a:spcPts val="215"/>
              </a:spcBef>
            </a:pPr>
            <a:r>
              <a:rPr sz="1600" i="1" dirty="0">
                <a:latin typeface="Carlito"/>
                <a:cs typeface="Carlito"/>
              </a:rPr>
              <a:t> </a:t>
            </a:r>
            <a:r>
              <a:rPr sz="1600" spc="-5" dirty="0">
                <a:latin typeface="Carlito"/>
                <a:cs typeface="Carlito"/>
              </a:rPr>
              <a:t>in  case of no </a:t>
            </a:r>
            <a:r>
              <a:rPr sz="1600" spc="-10" dirty="0">
                <a:latin typeface="Carlito"/>
                <a:cs typeface="Carlito"/>
              </a:rPr>
              <a:t>matching </a:t>
            </a:r>
            <a:r>
              <a:rPr sz="1600" spc="-5" dirty="0">
                <a:latin typeface="Carlito"/>
                <a:cs typeface="Carlito"/>
              </a:rPr>
              <a:t>join</a:t>
            </a:r>
            <a:r>
              <a:rPr sz="1600" spc="1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predicate.</a:t>
            </a:r>
            <a:endParaRPr sz="16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565524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776" y="254291"/>
            <a:ext cx="8331567" cy="289566"/>
          </a:xfrm>
          <a:prstGeom prst="rect">
            <a:avLst/>
          </a:prstGeom>
        </p:spPr>
        <p:txBody>
          <a:bodyPr vert="horz" wrap="square" lIns="0" tIns="25400" rIns="0" bIns="0" rtlCol="0" anchor="ctr">
            <a:spAutoFit/>
          </a:bodyPr>
          <a:lstStyle/>
          <a:p>
            <a:pPr marL="25400">
              <a:spcBef>
                <a:spcPts val="200"/>
              </a:spcBef>
            </a:pPr>
            <a:r>
              <a:rPr sz="2000" b="1" spc="-10" dirty="0"/>
              <a:t>Further SQL </a:t>
            </a:r>
            <a:r>
              <a:rPr sz="2000" b="1" dirty="0"/>
              <a:t>– </a:t>
            </a:r>
            <a:r>
              <a:rPr sz="2000" b="1" spc="-10" dirty="0"/>
              <a:t>More </a:t>
            </a:r>
            <a:r>
              <a:rPr sz="2000" b="1" spc="-20" dirty="0"/>
              <a:t>Operators </a:t>
            </a:r>
            <a:r>
              <a:rPr sz="2000" b="1" dirty="0"/>
              <a:t>and JOIN</a:t>
            </a:r>
            <a:r>
              <a:rPr sz="2000" b="1" spc="-200" dirty="0"/>
              <a:t> </a:t>
            </a:r>
            <a:r>
              <a:rPr sz="2000" b="1" dirty="0"/>
              <a:t>Queries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06029" y="1784603"/>
            <a:ext cx="64643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2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_A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0201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6304" y="1772309"/>
            <a:ext cx="640080" cy="2398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>
              <a:spcBef>
                <a:spcPts val="190"/>
              </a:spcBef>
            </a:pPr>
            <a:r>
              <a:rPr sz="1400" spc="-14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AB</a:t>
            </a:r>
            <a:r>
              <a:rPr sz="1400" spc="-30" dirty="0">
                <a:solidFill>
                  <a:srgbClr val="FFFFFF"/>
                </a:solidFill>
                <a:latin typeface="Carlito"/>
                <a:cs typeface="Carlito"/>
              </a:rPr>
              <a:t>LE</a:t>
            </a:r>
            <a:r>
              <a:rPr sz="1400" spc="-10" dirty="0">
                <a:solidFill>
                  <a:srgbClr val="FFFFFF"/>
                </a:solidFill>
                <a:latin typeface="Carlito"/>
                <a:cs typeface="Carlito"/>
              </a:rPr>
              <a:t>_B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24608" y="761"/>
            <a:ext cx="9144000" cy="6855458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30"/>
                </a:moveTo>
                <a:lnTo>
                  <a:pt x="4571746" y="3427730"/>
                </a:lnTo>
                <a:lnTo>
                  <a:pt x="4571746" y="0"/>
                </a:lnTo>
                <a:lnTo>
                  <a:pt x="0" y="0"/>
                </a:lnTo>
                <a:lnTo>
                  <a:pt x="0" y="342773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67694E71-5B82-4848-9E3C-BD85CC657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844" y="862648"/>
            <a:ext cx="3937000" cy="3797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BC160D-6E1C-F748-9B09-022B6830ABC4}"/>
              </a:ext>
            </a:extLst>
          </p:cNvPr>
          <p:cNvSpPr txBox="1"/>
          <p:nvPr/>
        </p:nvSpPr>
        <p:spPr>
          <a:xfrm>
            <a:off x="5725180" y="1196752"/>
            <a:ext cx="463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/>
                </a:solidFill>
              </a:rPr>
              <a:t>FULL OUTER JOIN </a:t>
            </a:r>
            <a:r>
              <a:rPr lang="en-US" dirty="0"/>
              <a:t>is NOT supported in </a:t>
            </a:r>
            <a:r>
              <a:rPr lang="en-US" dirty="0">
                <a:solidFill>
                  <a:srgbClr val="FF0000"/>
                </a:solidFill>
              </a:rPr>
              <a:t>MYSQL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8A81A-214D-254A-A729-A95263A48CD6}"/>
              </a:ext>
            </a:extLst>
          </p:cNvPr>
          <p:cNvSpPr txBox="1"/>
          <p:nvPr/>
        </p:nvSpPr>
        <p:spPr>
          <a:xfrm>
            <a:off x="5848865" y="1989438"/>
            <a:ext cx="379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SOLUTION: </a:t>
            </a:r>
            <a:r>
              <a:rPr lang="en-US" b="1" dirty="0">
                <a:solidFill>
                  <a:srgbClr val="FF0000"/>
                </a:solidFill>
              </a:rPr>
              <a:t>UNION(see later slides)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F4B6D7-A265-7647-BED0-AEABFCF513D6}"/>
              </a:ext>
            </a:extLst>
          </p:cNvPr>
          <p:cNvSpPr txBox="1"/>
          <p:nvPr/>
        </p:nvSpPr>
        <p:spPr>
          <a:xfrm>
            <a:off x="6009504" y="2780271"/>
            <a:ext cx="46338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LEFT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deptid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chemeClr val="accent2"/>
                </a:solidFill>
              </a:rPr>
              <a:t>UNION</a:t>
            </a:r>
          </a:p>
          <a:p>
            <a:r>
              <a:rPr lang="en-US" b="1" dirty="0">
                <a:solidFill>
                  <a:schemeClr val="accent2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d.deptname</a:t>
            </a:r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FROM</a:t>
            </a:r>
            <a:r>
              <a:rPr lang="en-US" dirty="0"/>
              <a:t> EMPLOYEE e </a:t>
            </a:r>
            <a:r>
              <a:rPr lang="en-US" b="1" dirty="0">
                <a:solidFill>
                  <a:schemeClr val="accent2"/>
                </a:solidFill>
              </a:rPr>
              <a:t>RIGHT JOIN </a:t>
            </a:r>
            <a:r>
              <a:rPr lang="en-US" dirty="0"/>
              <a:t>DEPARTMENT d</a:t>
            </a:r>
          </a:p>
          <a:p>
            <a:r>
              <a:rPr lang="en-US" b="1" dirty="0">
                <a:solidFill>
                  <a:schemeClr val="accent2"/>
                </a:solidFill>
              </a:rPr>
              <a:t>USING</a:t>
            </a:r>
            <a:r>
              <a:rPr lang="en-US" dirty="0"/>
              <a:t> (DEPTID)</a:t>
            </a:r>
          </a:p>
        </p:txBody>
      </p:sp>
    </p:spTree>
    <p:extLst>
      <p:ext uri="{BB962C8B-B14F-4D97-AF65-F5344CB8AC3E}">
        <p14:creationId xmlns:p14="http://schemas.microsoft.com/office/powerpoint/2010/main" val="1131038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A6DB-3939-4B01-EF12-8AD7F4C448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Multiple Table Quires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694CA-7870-97D9-BE00-25D47700F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423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3750" y="224810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93750" y="778809"/>
            <a:ext cx="8856984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i="1" dirty="0"/>
              <a:t>Get the names of employees </a:t>
            </a:r>
            <a:r>
              <a:rPr lang="en-US" b="1" i="1" dirty="0">
                <a:solidFill>
                  <a:srgbClr val="C00000"/>
                </a:solidFill>
              </a:rPr>
              <a:t>NOT</a:t>
            </a:r>
            <a:r>
              <a:rPr lang="en-US" b="1" i="1" dirty="0"/>
              <a:t> working on projects that have a consultant on them</a:t>
            </a:r>
          </a:p>
          <a:p>
            <a:pPr marL="2063750" indent="-1828800"/>
            <a:r>
              <a:rPr lang="en-US" b="1" dirty="0">
                <a:solidFill>
                  <a:srgbClr val="0070C0"/>
                </a:solidFill>
              </a:rPr>
              <a:t>lowest subquery:</a:t>
            </a:r>
            <a:r>
              <a:rPr lang="en-US" dirty="0"/>
              <a:t> 	Get the projects which have consultants working on them</a:t>
            </a:r>
          </a:p>
          <a:p>
            <a:pPr marL="2403475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SELECT </a:t>
            </a:r>
            <a:r>
              <a:rPr lang="en-US" dirty="0" err="1">
                <a:solidFill>
                  <a:srgbClr val="C00000"/>
                </a:solidFill>
              </a:rPr>
              <a:t>pnum</a:t>
            </a:r>
            <a:r>
              <a:rPr lang="en-US" dirty="0">
                <a:solidFill>
                  <a:srgbClr val="C00000"/>
                </a:solidFill>
              </a:rPr>
              <a:t> FROM WORKS_ON</a:t>
            </a:r>
          </a:p>
          <a:p>
            <a:pPr marL="2403475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WHERE role = 'Consultant'</a:t>
            </a:r>
          </a:p>
          <a:p>
            <a:pPr marL="2063750" indent="-1828800"/>
            <a:r>
              <a:rPr lang="en-US" b="1" dirty="0">
                <a:solidFill>
                  <a:srgbClr val="0070C0"/>
                </a:solidFill>
              </a:rPr>
              <a:t>middle subquery:</a:t>
            </a:r>
            <a:r>
              <a:rPr lang="en-US" dirty="0"/>
              <a:t> 	Get the employee numbers for projects not in this list</a:t>
            </a:r>
          </a:p>
          <a:p>
            <a:pPr marL="2403475">
              <a:lnSpc>
                <a:spcPct val="90000"/>
              </a:lnSpc>
            </a:pPr>
            <a:r>
              <a:rPr lang="en-US" dirty="0">
                <a:solidFill>
                  <a:srgbClr val="7030A0"/>
                </a:solidFill>
              </a:rPr>
              <a:t>SELECT </a:t>
            </a:r>
            <a:r>
              <a:rPr lang="en-US" dirty="0" err="1">
                <a:solidFill>
                  <a:srgbClr val="7030A0"/>
                </a:solidFill>
              </a:rPr>
              <a:t>enum</a:t>
            </a:r>
            <a:endParaRPr lang="en-US" dirty="0">
              <a:solidFill>
                <a:srgbClr val="7030A0"/>
              </a:solidFill>
            </a:endParaRPr>
          </a:p>
          <a:p>
            <a:pPr marL="2403475">
              <a:lnSpc>
                <a:spcPct val="90000"/>
              </a:lnSpc>
            </a:pPr>
            <a:r>
              <a:rPr lang="en-US" dirty="0">
                <a:solidFill>
                  <a:srgbClr val="7030A0"/>
                </a:solidFill>
              </a:rPr>
              <a:t>FROM  WORKS_ON</a:t>
            </a:r>
          </a:p>
          <a:p>
            <a:pPr marL="2403475">
              <a:lnSpc>
                <a:spcPct val="90000"/>
              </a:lnSpc>
            </a:pPr>
            <a:r>
              <a:rPr lang="en-US" dirty="0">
                <a:solidFill>
                  <a:srgbClr val="7030A0"/>
                </a:solidFill>
              </a:rPr>
              <a:t>WHERE </a:t>
            </a:r>
            <a:r>
              <a:rPr lang="en-US" dirty="0" err="1">
                <a:solidFill>
                  <a:srgbClr val="7030A0"/>
                </a:solidFill>
              </a:rPr>
              <a:t>pnum</a:t>
            </a:r>
            <a:r>
              <a:rPr lang="en-US" dirty="0">
                <a:solidFill>
                  <a:srgbClr val="7030A0"/>
                </a:solidFill>
              </a:rPr>
              <a:t> NOT IN</a:t>
            </a:r>
          </a:p>
          <a:p>
            <a:pPr marL="3141663">
              <a:lnSpc>
                <a:spcPct val="90000"/>
              </a:lnSpc>
            </a:pP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SELECT </a:t>
            </a:r>
            <a:r>
              <a:rPr lang="en-US" dirty="0" err="1">
                <a:solidFill>
                  <a:srgbClr val="C00000"/>
                </a:solidFill>
              </a:rPr>
              <a:t>pnum</a:t>
            </a:r>
            <a:r>
              <a:rPr lang="en-US" dirty="0">
                <a:solidFill>
                  <a:srgbClr val="C00000"/>
                </a:solidFill>
              </a:rPr>
              <a:t> FROM WORKS_ON</a:t>
            </a:r>
          </a:p>
          <a:p>
            <a:pPr marL="3141663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WHERE role = 'Consultant'</a:t>
            </a:r>
            <a:r>
              <a:rPr lang="en-US" dirty="0"/>
              <a:t>)</a:t>
            </a:r>
            <a:endParaRPr lang="en-GB" dirty="0"/>
          </a:p>
          <a:p>
            <a:pPr marL="2063750" indent="-1828800"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</a:rPr>
              <a:t>top query:</a:t>
            </a:r>
            <a:r>
              <a:rPr lang="en-US" dirty="0"/>
              <a:t>	Get the employee names of employees from this employee list</a:t>
            </a:r>
            <a:endParaRPr lang="en-US" b="1" dirty="0">
              <a:solidFill>
                <a:srgbClr val="7030A0"/>
              </a:solidFill>
              <a:latin typeface="Arial" charset="0"/>
            </a:endParaRPr>
          </a:p>
          <a:p>
            <a:pPr marL="2403475">
              <a:lnSpc>
                <a:spcPct val="90000"/>
              </a:lnSpc>
            </a:pPr>
            <a:r>
              <a:rPr lang="en-US" dirty="0"/>
              <a:t>SELECT DISTINCT </a:t>
            </a:r>
            <a:r>
              <a:rPr lang="en-US" dirty="0" err="1"/>
              <a:t>ename</a:t>
            </a:r>
            <a:endParaRPr lang="en-US" dirty="0"/>
          </a:p>
          <a:p>
            <a:pPr marL="2403475">
              <a:lnSpc>
                <a:spcPct val="90000"/>
              </a:lnSpc>
            </a:pPr>
            <a:r>
              <a:rPr lang="en-US" dirty="0"/>
              <a:t>FROM EMPLOYEE</a:t>
            </a:r>
          </a:p>
          <a:p>
            <a:pPr marL="2403475">
              <a:lnSpc>
                <a:spcPct val="90000"/>
              </a:lnSpc>
            </a:pPr>
            <a:r>
              <a:rPr lang="en-US" dirty="0"/>
              <a:t>WHERE </a:t>
            </a:r>
            <a:r>
              <a:rPr lang="en-US" dirty="0" err="1"/>
              <a:t>enum</a:t>
            </a:r>
            <a:r>
              <a:rPr lang="en-US" dirty="0"/>
              <a:t> IN</a:t>
            </a:r>
          </a:p>
          <a:p>
            <a:pPr marL="3141663">
              <a:lnSpc>
                <a:spcPct val="90000"/>
              </a:lnSpc>
            </a:pPr>
            <a:r>
              <a:rPr lang="en-US" dirty="0"/>
              <a:t>(</a:t>
            </a:r>
            <a:r>
              <a:rPr lang="en-US" dirty="0">
                <a:solidFill>
                  <a:srgbClr val="7030A0"/>
                </a:solidFill>
              </a:rPr>
              <a:t>SELECT </a:t>
            </a:r>
            <a:r>
              <a:rPr lang="en-US" dirty="0" err="1">
                <a:solidFill>
                  <a:srgbClr val="7030A0"/>
                </a:solidFill>
              </a:rPr>
              <a:t>enum</a:t>
            </a:r>
            <a:endParaRPr lang="en-US" dirty="0">
              <a:solidFill>
                <a:srgbClr val="7030A0"/>
              </a:solidFill>
            </a:endParaRPr>
          </a:p>
          <a:p>
            <a:pPr marL="3141663">
              <a:lnSpc>
                <a:spcPct val="90000"/>
              </a:lnSpc>
            </a:pPr>
            <a:r>
              <a:rPr lang="en-US" dirty="0">
                <a:solidFill>
                  <a:srgbClr val="7030A0"/>
                </a:solidFill>
              </a:rPr>
              <a:t>FROM  WORKS_ON</a:t>
            </a:r>
          </a:p>
          <a:p>
            <a:pPr marL="3141663">
              <a:lnSpc>
                <a:spcPct val="90000"/>
              </a:lnSpc>
            </a:pPr>
            <a:r>
              <a:rPr lang="en-US" dirty="0">
                <a:solidFill>
                  <a:srgbClr val="7030A0"/>
                </a:solidFill>
              </a:rPr>
              <a:t>WHERE </a:t>
            </a:r>
            <a:r>
              <a:rPr lang="en-US" dirty="0" err="1">
                <a:solidFill>
                  <a:srgbClr val="7030A0"/>
                </a:solidFill>
              </a:rPr>
              <a:t>pnum</a:t>
            </a:r>
            <a:r>
              <a:rPr lang="en-US" dirty="0">
                <a:solidFill>
                  <a:srgbClr val="7030A0"/>
                </a:solidFill>
              </a:rPr>
              <a:t> NOT IN</a:t>
            </a:r>
          </a:p>
          <a:p>
            <a:pPr marL="3892550">
              <a:lnSpc>
                <a:spcPct val="90000"/>
              </a:lnSpc>
            </a:pPr>
            <a:r>
              <a:rPr lang="en-US" dirty="0"/>
              <a:t>(</a:t>
            </a:r>
            <a:r>
              <a:rPr lang="en-US" dirty="0">
                <a:solidFill>
                  <a:srgbClr val="C00000"/>
                </a:solidFill>
              </a:rPr>
              <a:t>SELECT </a:t>
            </a:r>
            <a:r>
              <a:rPr lang="en-US" dirty="0" err="1">
                <a:solidFill>
                  <a:srgbClr val="C00000"/>
                </a:solidFill>
              </a:rPr>
              <a:t>pnum</a:t>
            </a:r>
            <a:r>
              <a:rPr lang="en-US" dirty="0">
                <a:solidFill>
                  <a:srgbClr val="C00000"/>
                </a:solidFill>
              </a:rPr>
              <a:t> FROM WORKS_ON</a:t>
            </a:r>
          </a:p>
          <a:p>
            <a:pPr marL="3892550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</a:rPr>
              <a:t>WHERE role = 'Consultant'</a:t>
            </a:r>
            <a:r>
              <a:rPr lang="en-US" dirty="0"/>
              <a:t>)) ;</a:t>
            </a:r>
          </a:p>
        </p:txBody>
      </p:sp>
      <p:sp>
        <p:nvSpPr>
          <p:cNvPr id="4" name="Right Arrow 4"/>
          <p:cNvSpPr/>
          <p:nvPr/>
        </p:nvSpPr>
        <p:spPr>
          <a:xfrm>
            <a:off x="7468522" y="4569405"/>
            <a:ext cx="1152128" cy="330249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814630" y="4569405"/>
          <a:ext cx="936104" cy="1013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kern="1200" dirty="0" err="1">
                          <a:effectLst/>
                          <a:latin typeface="+mn-lt"/>
                        </a:rPr>
                        <a:t>ename</a:t>
                      </a:r>
                      <a:endParaRPr lang="en-GB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latin typeface="+mn-lt"/>
                        </a:rPr>
                        <a:t>Smith</a:t>
                      </a:r>
                      <a:endParaRPr lang="en-GB" sz="1600" b="0" i="0" u="none" strike="noStrike" dirty="0"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White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070267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latin typeface="+mn-lt"/>
                        </a:rPr>
                        <a:t>Doyle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429982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701850" y="4197477"/>
            <a:ext cx="1390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Result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598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04028"/>
            <a:ext cx="8856984" cy="5539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en-US" sz="3000" dirty="0">
                <a:solidFill>
                  <a:prstClr val="black"/>
                </a:solidFill>
                <a:latin typeface="+mn-lt"/>
              </a:rPr>
              <a:t>SQL – Multiple Table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1504" y="758026"/>
            <a:ext cx="8856984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Views</a:t>
            </a:r>
          </a:p>
          <a:p>
            <a:pPr>
              <a:spcAft>
                <a:spcPts val="600"/>
              </a:spcAft>
            </a:pPr>
            <a:r>
              <a:rPr lang="en-US" dirty="0"/>
              <a:t>A view is a </a:t>
            </a:r>
            <a:r>
              <a:rPr lang="en-US" b="1" dirty="0">
                <a:solidFill>
                  <a:srgbClr val="C00000"/>
                </a:solidFill>
              </a:rPr>
              <a:t>virtual table </a:t>
            </a:r>
            <a:r>
              <a:rPr lang="en-US" dirty="0"/>
              <a:t>defined as a subset of one or more tables and stored in the data dictionary</a:t>
            </a:r>
          </a:p>
          <a:p>
            <a:pPr>
              <a:spcAft>
                <a:spcPts val="600"/>
              </a:spcAft>
            </a:pPr>
            <a:r>
              <a:rPr lang="en-US" dirty="0"/>
              <a:t>It is only materialized (actually created as a table) at run time from the base table(s)</a:t>
            </a:r>
          </a:p>
          <a:p>
            <a:pPr>
              <a:spcAft>
                <a:spcPts val="600"/>
              </a:spcAft>
            </a:pPr>
            <a:r>
              <a:rPr lang="en-US" dirty="0"/>
              <a:t>Views can be manipulated mostly as though it were a base table (from user perspective)</a:t>
            </a:r>
          </a:p>
          <a:p>
            <a:pPr>
              <a:spcAft>
                <a:spcPts val="600"/>
              </a:spcAft>
            </a:pPr>
            <a:r>
              <a:rPr lang="en-US" dirty="0"/>
              <a:t>SQL View Syntax:</a:t>
            </a:r>
          </a:p>
          <a:p>
            <a:pPr lvl="1"/>
            <a:r>
              <a:rPr lang="en-US" dirty="0"/>
              <a:t>CREATE VIEW </a:t>
            </a:r>
            <a:r>
              <a:rPr lang="en-US" dirty="0" err="1"/>
              <a:t>viewname</a:t>
            </a:r>
            <a:r>
              <a:rPr lang="en-US" dirty="0"/>
              <a:t>  (&lt;new attribute list&gt;)</a:t>
            </a:r>
          </a:p>
          <a:p>
            <a:pPr lvl="1"/>
            <a:r>
              <a:rPr lang="en-US" dirty="0"/>
              <a:t>AS SELECT &lt;attribute list&gt;</a:t>
            </a:r>
          </a:p>
          <a:p>
            <a:pPr marL="714375" lvl="1"/>
            <a:r>
              <a:rPr lang="en-US" dirty="0"/>
              <a:t>FROM &lt;table list&gt;</a:t>
            </a:r>
          </a:p>
          <a:p>
            <a:pPr marL="714375" lvl="1">
              <a:spcAft>
                <a:spcPts val="1200"/>
              </a:spcAft>
            </a:pPr>
            <a:r>
              <a:rPr lang="en-US" dirty="0"/>
              <a:t>[ other clauses];</a:t>
            </a:r>
          </a:p>
          <a:p>
            <a:pPr marL="444500" indent="-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a typeface="Calibri" panose="020F0502020204030204" pitchFamily="34" charset="0"/>
                <a:cs typeface="Arial" panose="020B0604020202020204" pitchFamily="34" charset="0"/>
              </a:rPr>
              <a:t>e.g.	CREATE VIEW </a:t>
            </a:r>
            <a:r>
              <a:rPr lang="en-GB" altLang="en-US" b="1" dirty="0">
                <a:solidFill>
                  <a:srgbClr val="C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FLOOR_1_EMP</a:t>
            </a:r>
            <a:r>
              <a:rPr lang="en-GB" altLang="en-US" dirty="0"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GB" altLang="en-US" b="1" dirty="0" err="1">
                <a:solidFill>
                  <a:srgbClr val="0070C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employee_no</a:t>
            </a:r>
            <a:r>
              <a:rPr lang="en-GB" altLang="en-US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GB" altLang="en-US" b="1" dirty="0">
                <a:solidFill>
                  <a:srgbClr val="0070C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name</a:t>
            </a:r>
            <a:r>
              <a:rPr lang="en-GB" altLang="en-US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GB" altLang="en-US" dirty="0"/>
          </a:p>
          <a:p>
            <a:pPr marL="444500" indent="-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a typeface="Calibri" panose="020F0502020204030204" pitchFamily="34" charset="0"/>
                <a:cs typeface="Arial" panose="020B0604020202020204" pitchFamily="34" charset="0"/>
              </a:rPr>
              <a:t>	AS SELECT </a:t>
            </a:r>
            <a:r>
              <a:rPr lang="en-US" altLang="en-US" dirty="0" err="1">
                <a:ea typeface="Calibri" panose="020F0502020204030204" pitchFamily="34" charset="0"/>
                <a:cs typeface="Arial" panose="020B0604020202020204" pitchFamily="34" charset="0"/>
              </a:rPr>
              <a:t>enum</a:t>
            </a:r>
            <a:r>
              <a:rPr lang="en-US" altLang="en-US" dirty="0"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altLang="en-US" dirty="0" err="1">
                <a:ea typeface="Calibri" panose="020F0502020204030204" pitchFamily="34" charset="0"/>
                <a:cs typeface="Arial" panose="020B0604020202020204" pitchFamily="34" charset="0"/>
              </a:rPr>
              <a:t>ename</a:t>
            </a:r>
            <a:endParaRPr lang="en-US" altLang="en-US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1437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a typeface="Calibri" panose="020F0502020204030204" pitchFamily="34" charset="0"/>
                <a:cs typeface="Arial" panose="020B0604020202020204" pitchFamily="34" charset="0"/>
              </a:rPr>
              <a:t>FROM EMPLOYEE</a:t>
            </a:r>
            <a:endParaRPr lang="en-GB" altLang="en-US" dirty="0"/>
          </a:p>
          <a:p>
            <a:pPr marL="714375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ea typeface="Calibri" panose="020F0502020204030204" pitchFamily="34" charset="0"/>
                <a:cs typeface="Arial" panose="020B0604020202020204" pitchFamily="34" charset="0"/>
              </a:rPr>
              <a:t>WHERE floor = 1;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7030A0"/>
                </a:solidFill>
                <a:cs typeface="Arial" panose="020B0604020202020204" pitchFamily="34" charset="0"/>
              </a:rPr>
              <a:t>Views can be used in queries,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7030A0"/>
                </a:solidFill>
                <a:cs typeface="Arial" panose="020B0604020202020204" pitchFamily="34" charset="0"/>
              </a:rPr>
              <a:t>just like any other table</a:t>
            </a:r>
            <a:endParaRPr lang="en-GB" altLang="en-US" b="1" dirty="0">
              <a:solidFill>
                <a:srgbClr val="7030A0"/>
              </a:solidFill>
            </a:endParaRPr>
          </a:p>
          <a:p>
            <a:pPr marL="714375" lvl="1"/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99856" y="4869160"/>
          <a:ext cx="2520280" cy="178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4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enum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ename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salary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floor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852341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Smith</a:t>
                      </a:r>
                      <a:endParaRPr lang="en-GB" sz="1400" b="1" i="1" u="none" strike="noStrike" dirty="0">
                        <a:solidFill>
                          <a:srgbClr val="7030A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852358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Jones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19000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852407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Brown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16000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852491</a:t>
                      </a:r>
                      <a:endParaRPr lang="en-GB" sz="1400" b="1" i="1" u="none" strike="noStrike" dirty="0">
                        <a:solidFill>
                          <a:srgbClr val="7030A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1" u="none" strike="noStrike" dirty="0">
                          <a:solidFill>
                            <a:srgbClr val="7030A0"/>
                          </a:solidFill>
                          <a:effectLst/>
                        </a:rPr>
                        <a:t>Adams</a:t>
                      </a:r>
                      <a:endParaRPr lang="en-GB" sz="1400" b="1" i="1" u="none" strike="noStrike" dirty="0">
                        <a:solidFill>
                          <a:srgbClr val="7030A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30500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852514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Doyle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852530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Evans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tx1"/>
                          </a:solidFill>
                          <a:effectLst/>
                        </a:rPr>
                        <a:t>26980</a:t>
                      </a:r>
                      <a:endParaRPr lang="en-GB" sz="14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882370" y="4623340"/>
            <a:ext cx="12601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EMPLOYEE</a:t>
            </a:r>
            <a:endParaRPr lang="en-GB" sz="1400" dirty="0"/>
          </a:p>
        </p:txBody>
      </p:sp>
      <p:sp>
        <p:nvSpPr>
          <p:cNvPr id="7" name="Rectangle 6"/>
          <p:cNvSpPr/>
          <p:nvPr/>
        </p:nvSpPr>
        <p:spPr>
          <a:xfrm>
            <a:off x="8698268" y="4623340"/>
            <a:ext cx="13902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FLOOR_1_EMP</a:t>
            </a:r>
            <a:endParaRPr lang="en-GB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8290" y="4895034"/>
          <a:ext cx="1826889" cy="70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4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 err="1">
                          <a:effectLst/>
                        </a:rPr>
                        <a:t>employee_no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name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852341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Smith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852491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Adams</a:t>
                      </a:r>
                      <a:endParaRPr lang="en-GB" sz="14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ight Arrow 4"/>
          <p:cNvSpPr/>
          <p:nvPr/>
        </p:nvSpPr>
        <p:spPr>
          <a:xfrm>
            <a:off x="7652746" y="5075121"/>
            <a:ext cx="720080" cy="330249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6123338" y="3254438"/>
            <a:ext cx="3778897" cy="523771"/>
            <a:chOff x="4166897" y="4959740"/>
            <a:chExt cx="6724665" cy="523771"/>
          </a:xfrm>
        </p:grpSpPr>
        <p:sp>
          <p:nvSpPr>
            <p:cNvPr id="11" name="Rectangle 10"/>
            <p:cNvSpPr/>
            <p:nvPr/>
          </p:nvSpPr>
          <p:spPr>
            <a:xfrm>
              <a:off x="7242269" y="4960291"/>
              <a:ext cx="364929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i="1" dirty="0">
                  <a:solidFill>
                    <a:srgbClr val="7030A0"/>
                  </a:solidFill>
                </a:rPr>
                <a:t>Can give the attributes new names</a:t>
              </a:r>
            </a:p>
          </p:txBody>
        </p:sp>
        <p:cxnSp>
          <p:nvCxnSpPr>
            <p:cNvPr id="12" name="Straight Arrow Connector 11"/>
            <p:cNvCxnSpPr>
              <a:stCxn id="11" idx="1"/>
            </p:cNvCxnSpPr>
            <p:nvPr/>
          </p:nvCxnSpPr>
          <p:spPr>
            <a:xfrm flipH="1" flipV="1">
              <a:off x="4166897" y="4959740"/>
              <a:ext cx="3075372" cy="262161"/>
            </a:xfrm>
            <a:prstGeom prst="straightConnector1">
              <a:avLst/>
            </a:prstGeom>
            <a:ln>
              <a:solidFill>
                <a:srgbClr val="7030A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47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3494</Words>
  <Application>Microsoft Office PowerPoint</Application>
  <PresentationFormat>Widescreen</PresentationFormat>
  <Paragraphs>929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Carlito</vt:lpstr>
      <vt:lpstr>Office Theme</vt:lpstr>
      <vt:lpstr>MySQL Exercises</vt:lpstr>
      <vt:lpstr>Employee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 Departments </vt:lpstr>
      <vt:lpstr>PowerPoint Presentation</vt:lpstr>
      <vt:lpstr>PowerPoint Presentation</vt:lpstr>
      <vt:lpstr>PowerPoint Presentation</vt:lpstr>
      <vt:lpstr>PowerPoint Presentation</vt:lpstr>
      <vt:lpstr>Further SQL – More Operators and JOIN Queries</vt:lpstr>
      <vt:lpstr>Further SQL – More Operators and JOIN Queries</vt:lpstr>
      <vt:lpstr>Further SQL – More Operators and JOIN Queries</vt:lpstr>
      <vt:lpstr>Multiple Table Quires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Exercises</dc:title>
  <dc:creator>Nitsa Herzog</dc:creator>
  <cp:lastModifiedBy>Nitsa Herzog</cp:lastModifiedBy>
  <cp:revision>7</cp:revision>
  <dcterms:created xsi:type="dcterms:W3CDTF">2022-11-12T19:45:14Z</dcterms:created>
  <dcterms:modified xsi:type="dcterms:W3CDTF">2022-11-12T20:35:32Z</dcterms:modified>
</cp:coreProperties>
</file>